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67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286375" cy="5143500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14375" y="741192"/>
            <a:ext cx="45720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5" dirty="0">
                <a:solidFill>
                  <a:srgbClr val="00E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NINA HESSE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14375" y="1580499"/>
            <a:ext cx="4572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750" b="1" kern="0" spc="-2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BOARDROOM
EDITION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714375" y="2787793"/>
            <a:ext cx="4572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2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GOVERNANCE SUITE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4375" y="4073668"/>
            <a:ext cx="2071688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00E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INSTANCE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714375" y="4264763"/>
            <a:ext cx="113942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ALPHA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214688" y="4073668"/>
            <a:ext cx="2071688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00E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RELEASE DATE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214688" y="4264763"/>
            <a:ext cx="7572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JUNE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4375" y="4689872"/>
            <a:ext cx="3370064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3" dirty="0">
                <a:solidFill>
                  <a:srgbClr val="FFFFFF">
                    <a:alpha val="4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PROPRIETARY GOVERNANCE INTELLIGENCE PRODUCT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5286375" y="0"/>
            <a:ext cx="3857625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596A873E-20E1-5CC1-4B04-254C22D5C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57188" y="225028"/>
            <a:ext cx="15894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E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59011" y="191095"/>
            <a:ext cx="333077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GOVERNANCE SUMMARY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90147" y="237530"/>
            <a:ext cx="1896666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FFFFFF">
                    <a:alpha val="4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NINA HESSE GOVERNANCE SUITE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357188" y="785813"/>
            <a:ext cx="4750566" cy="199310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57188" y="785813"/>
            <a:ext cx="71438" cy="1993106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42938" y="1071563"/>
            <a:ext cx="41790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3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DELIVERY CONFIDENCE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42938" y="1371600"/>
            <a:ext cx="4179066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520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94%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878681" y="2050256"/>
            <a:ext cx="2928938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C85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OVERALL HEALTH: GREEN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93503" y="785813"/>
            <a:ext cx="1625203" cy="92511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393503" y="1689497"/>
            <a:ext cx="1625203" cy="214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572097" y="964406"/>
            <a:ext cx="126801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92%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5572097" y="1414463"/>
            <a:ext cx="126801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SCHEDULE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7161581" y="785813"/>
            <a:ext cx="1625203" cy="92511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7161581" y="1689497"/>
            <a:ext cx="1625203" cy="214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7340175" y="964406"/>
            <a:ext cx="126801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-2%</a:t>
            </a:r>
            <a:endParaRPr lang="en-US" sz="2450" dirty="0"/>
          </a:p>
        </p:txBody>
      </p:sp>
      <p:sp>
        <p:nvSpPr>
          <p:cNvPr id="19" name="Text 16"/>
          <p:cNvSpPr/>
          <p:nvPr/>
        </p:nvSpPr>
        <p:spPr>
          <a:xfrm>
            <a:off x="7340175" y="1414463"/>
            <a:ext cx="126801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BUDGET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5393503" y="1832372"/>
            <a:ext cx="1625203" cy="92511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393503" y="2736056"/>
            <a:ext cx="1625203" cy="214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572097" y="2010966"/>
            <a:ext cx="126801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88%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5572097" y="2461022"/>
            <a:ext cx="126801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GOVERNANCE</a:t>
            </a:r>
            <a:endParaRPr lang="en-US" sz="550" dirty="0"/>
          </a:p>
        </p:txBody>
      </p:sp>
      <p:sp>
        <p:nvSpPr>
          <p:cNvPr id="24" name="Shape 21"/>
          <p:cNvSpPr/>
          <p:nvPr/>
        </p:nvSpPr>
        <p:spPr>
          <a:xfrm>
            <a:off x="7161581" y="1832372"/>
            <a:ext cx="1625203" cy="92511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7161581" y="2736056"/>
            <a:ext cx="1625203" cy="214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7340175" y="2010966"/>
            <a:ext cx="126801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5</a:t>
            </a:r>
            <a:endParaRPr lang="en-US" sz="2450" dirty="0"/>
          </a:p>
        </p:txBody>
      </p:sp>
      <p:sp>
        <p:nvSpPr>
          <p:cNvPr id="27" name="Text 24"/>
          <p:cNvSpPr/>
          <p:nvPr/>
        </p:nvSpPr>
        <p:spPr>
          <a:xfrm>
            <a:off x="7340175" y="2461022"/>
            <a:ext cx="126801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HIGH RISKS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357188" y="3128963"/>
            <a:ext cx="1884164" cy="20716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EXECUTIVE OBSERVATION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57188" y="3479006"/>
            <a:ext cx="4364162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"Programme remains on track. Delivery confidence remains high. No executive intervention required beyond decisions identified within this pack."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149974" y="3128963"/>
            <a:ext cx="1744861" cy="20716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COMMITTEE ATTENTION</a:t>
            </a:r>
            <a:endParaRPr lang="en-US" sz="7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724" y="3593306"/>
            <a:ext cx="137517" cy="157163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716116" y="3598664"/>
            <a:ext cx="195738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10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Q3 Resource Allocation Approval</a:t>
            </a:r>
            <a:endParaRPr lang="en-US" sz="85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724" y="3836194"/>
            <a:ext cx="137517" cy="157163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716116" y="3841552"/>
            <a:ext cx="219848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10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 Integration Strategy Sign-off</a:t>
            </a:r>
            <a:endParaRPr lang="en-US" sz="85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724" y="4079081"/>
            <a:ext cx="137517" cy="15716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716116" y="4084439"/>
            <a:ext cx="2146697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10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 Vendor Performance Review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0" y="4707731"/>
            <a:ext cx="9144000" cy="4357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2"/>
          <p:cNvSpPr/>
          <p:nvPr/>
        </p:nvSpPr>
        <p:spPr>
          <a:xfrm>
            <a:off x="0" y="4707731"/>
            <a:ext cx="91440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3"/>
          <p:cNvSpPr/>
          <p:nvPr/>
        </p:nvSpPr>
        <p:spPr>
          <a:xfrm>
            <a:off x="357188" y="4880967"/>
            <a:ext cx="23110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ALPHA | BOARDROOM EDITION</a:t>
            </a:r>
            <a:endParaRPr lang="en-US" sz="550" dirty="0"/>
          </a:p>
        </p:txBody>
      </p:sp>
      <p:sp>
        <p:nvSpPr>
          <p:cNvPr id="40" name="Text 34"/>
          <p:cNvSpPr/>
          <p:nvPr/>
        </p:nvSpPr>
        <p:spPr>
          <a:xfrm>
            <a:off x="4396085" y="4880967"/>
            <a:ext cx="46791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PAGE 01</a:t>
            </a:r>
            <a:endParaRPr lang="en-US" sz="550" dirty="0"/>
          </a:p>
        </p:txBody>
      </p:sp>
      <p:sp>
        <p:nvSpPr>
          <p:cNvPr id="41" name="Text 35"/>
          <p:cNvSpPr/>
          <p:nvPr/>
        </p:nvSpPr>
        <p:spPr>
          <a:xfrm>
            <a:off x="6591895" y="4880967"/>
            <a:ext cx="2194917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PROPRIETARY GOVERNANCE PRODUCT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57188" y="225028"/>
            <a:ext cx="1785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E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78656" y="191095"/>
            <a:ext cx="272176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RISKS &amp; ISSUES GOVERNANCE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90147" y="237530"/>
            <a:ext cx="1896666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FFFFFF">
                    <a:alpha val="4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NINA HESSE GOVERNANCE SUITE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751880" y="714375"/>
            <a:ext cx="1925241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3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67.5%</a:t>
            </a:r>
            <a:endParaRPr lang="en-US" sz="4350" dirty="0"/>
          </a:p>
        </p:txBody>
      </p:sp>
      <p:sp>
        <p:nvSpPr>
          <p:cNvPr id="8" name="Text 5"/>
          <p:cNvSpPr/>
          <p:nvPr/>
        </p:nvSpPr>
        <p:spPr>
          <a:xfrm>
            <a:off x="751880" y="1314450"/>
            <a:ext cx="19252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GOVERNANCE EXPOSURE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3105745" y="832247"/>
            <a:ext cx="1214438" cy="6000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105745" y="832247"/>
            <a:ext cx="1214438" cy="214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320058" y="939403"/>
            <a:ext cx="78581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20058" y="1216223"/>
            <a:ext cx="785813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RISKS</a:t>
            </a:r>
            <a:endParaRPr lang="en-US" sz="500" dirty="0"/>
          </a:p>
        </p:txBody>
      </p:sp>
      <p:sp>
        <p:nvSpPr>
          <p:cNvPr id="13" name="Shape 10"/>
          <p:cNvSpPr/>
          <p:nvPr/>
        </p:nvSpPr>
        <p:spPr>
          <a:xfrm>
            <a:off x="4463058" y="832247"/>
            <a:ext cx="1214438" cy="6000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463058" y="832247"/>
            <a:ext cx="1214438" cy="214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677370" y="939403"/>
            <a:ext cx="78581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77370" y="1216223"/>
            <a:ext cx="785813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ISSUES</a:t>
            </a:r>
            <a:endParaRPr lang="en-US" sz="500" dirty="0"/>
          </a:p>
        </p:txBody>
      </p:sp>
      <p:sp>
        <p:nvSpPr>
          <p:cNvPr id="17" name="Shape 14"/>
          <p:cNvSpPr/>
          <p:nvPr/>
        </p:nvSpPr>
        <p:spPr>
          <a:xfrm>
            <a:off x="5820370" y="832247"/>
            <a:ext cx="1214438" cy="6000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5820370" y="832247"/>
            <a:ext cx="1214438" cy="214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034683" y="939403"/>
            <a:ext cx="78581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34683" y="1216223"/>
            <a:ext cx="785813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ASSUMPTIONS</a:t>
            </a:r>
            <a:endParaRPr lang="en-US" sz="500" dirty="0"/>
          </a:p>
        </p:txBody>
      </p:sp>
      <p:sp>
        <p:nvSpPr>
          <p:cNvPr id="21" name="Shape 18"/>
          <p:cNvSpPr/>
          <p:nvPr/>
        </p:nvSpPr>
        <p:spPr>
          <a:xfrm>
            <a:off x="7177683" y="832247"/>
            <a:ext cx="1214438" cy="60007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7177683" y="832247"/>
            <a:ext cx="1214438" cy="214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7391995" y="950119"/>
            <a:ext cx="78581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391995" y="1226939"/>
            <a:ext cx="785813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DEPENDENCIES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357188" y="1871663"/>
            <a:ext cx="4107656" cy="1285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TOP GOVERNANCE RISKS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7188" y="2107406"/>
            <a:ext cx="4107656" cy="46077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357188" y="2107406"/>
            <a:ext cx="42863" cy="460772"/>
          </a:xfrm>
          <a:prstGeom prst="rect">
            <a:avLst/>
          </a:prstGeom>
          <a:solidFill>
            <a:srgbClr val="D5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500063" y="2214563"/>
            <a:ext cx="293072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Resource Constraints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00063" y="2364581"/>
            <a:ext cx="293072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Mitigation: Active external recruitment drive.</a:t>
            </a:r>
            <a:endParaRPr lang="en-US" sz="550" dirty="0"/>
          </a:p>
        </p:txBody>
      </p:sp>
      <p:sp>
        <p:nvSpPr>
          <p:cNvPr id="30" name="Shape 27"/>
          <p:cNvSpPr/>
          <p:nvPr/>
        </p:nvSpPr>
        <p:spPr>
          <a:xfrm>
            <a:off x="3573661" y="2269927"/>
            <a:ext cx="476845" cy="1357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3573661" y="2269927"/>
            <a:ext cx="476845" cy="13573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CRITICAL</a:t>
            </a:r>
            <a:endParaRPr lang="en-US" sz="4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381" y="2279749"/>
            <a:ext cx="128588" cy="11430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357188" y="2675334"/>
            <a:ext cx="4107656" cy="46077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0"/>
          <p:cNvSpPr/>
          <p:nvPr/>
        </p:nvSpPr>
        <p:spPr>
          <a:xfrm>
            <a:off x="357188" y="2675334"/>
            <a:ext cx="42863" cy="460772"/>
          </a:xfrm>
          <a:prstGeom prst="rect">
            <a:avLst/>
          </a:prstGeom>
          <a:solidFill>
            <a:srgbClr val="FFD6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1"/>
          <p:cNvSpPr/>
          <p:nvPr/>
        </p:nvSpPr>
        <p:spPr>
          <a:xfrm>
            <a:off x="500063" y="2782491"/>
            <a:ext cx="29467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Third Party Dependency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500063" y="2932509"/>
            <a:ext cx="2946797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Mitigation: Weekly executive vendor reviews.</a:t>
            </a:r>
            <a:endParaRPr lang="en-US" sz="550" dirty="0"/>
          </a:p>
        </p:txBody>
      </p:sp>
      <p:sp>
        <p:nvSpPr>
          <p:cNvPr id="37" name="Shape 33"/>
          <p:cNvSpPr/>
          <p:nvPr/>
        </p:nvSpPr>
        <p:spPr>
          <a:xfrm>
            <a:off x="3589734" y="2837855"/>
            <a:ext cx="489347" cy="1357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4"/>
          <p:cNvSpPr/>
          <p:nvPr/>
        </p:nvSpPr>
        <p:spPr>
          <a:xfrm>
            <a:off x="3589734" y="2837855"/>
            <a:ext cx="489347" cy="13573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WARNING</a:t>
            </a:r>
            <a:endParaRPr lang="en-US" sz="45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1956" y="2847677"/>
            <a:ext cx="100013" cy="11430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4679156" y="1871663"/>
            <a:ext cx="4107656" cy="1285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kern="0" spc="2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CRITICAL DELIVERY ISSUES</a:t>
            </a:r>
            <a:endParaRPr lang="en-US" sz="750" dirty="0"/>
          </a:p>
        </p:txBody>
      </p:sp>
      <p:sp>
        <p:nvSpPr>
          <p:cNvPr id="41" name="Shape 36"/>
          <p:cNvSpPr/>
          <p:nvPr/>
        </p:nvSpPr>
        <p:spPr>
          <a:xfrm>
            <a:off x="4679156" y="2107406"/>
            <a:ext cx="4107656" cy="46077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37"/>
          <p:cNvSpPr/>
          <p:nvPr/>
        </p:nvSpPr>
        <p:spPr>
          <a:xfrm>
            <a:off x="4679156" y="2107406"/>
            <a:ext cx="42863" cy="460772"/>
          </a:xfrm>
          <a:prstGeom prst="rect">
            <a:avLst/>
          </a:prstGeom>
          <a:solidFill>
            <a:srgbClr val="D5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4822031" y="2214563"/>
            <a:ext cx="293072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Reporting Performance</a:t>
            </a:r>
            <a:endParaRPr lang="en-US" sz="700" dirty="0"/>
          </a:p>
        </p:txBody>
      </p:sp>
      <p:sp>
        <p:nvSpPr>
          <p:cNvPr id="44" name="Text 39"/>
          <p:cNvSpPr/>
          <p:nvPr/>
        </p:nvSpPr>
        <p:spPr>
          <a:xfrm>
            <a:off x="4822031" y="2364581"/>
            <a:ext cx="293072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Status: Database optimization in progress.</a:t>
            </a:r>
            <a:endParaRPr lang="en-US" sz="550" dirty="0"/>
          </a:p>
        </p:txBody>
      </p:sp>
      <p:sp>
        <p:nvSpPr>
          <p:cNvPr id="45" name="Shape 40"/>
          <p:cNvSpPr/>
          <p:nvPr/>
        </p:nvSpPr>
        <p:spPr>
          <a:xfrm>
            <a:off x="7895630" y="2269927"/>
            <a:ext cx="476845" cy="1357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1"/>
          <p:cNvSpPr/>
          <p:nvPr/>
        </p:nvSpPr>
        <p:spPr>
          <a:xfrm>
            <a:off x="7895630" y="2269927"/>
            <a:ext cx="476845" cy="13573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CRITICAL</a:t>
            </a:r>
            <a:endParaRPr lang="en-US" sz="45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350" y="2279749"/>
            <a:ext cx="128588" cy="114300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4679156" y="2675334"/>
            <a:ext cx="4107656" cy="46077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43"/>
          <p:cNvSpPr/>
          <p:nvPr/>
        </p:nvSpPr>
        <p:spPr>
          <a:xfrm>
            <a:off x="4679156" y="2675334"/>
            <a:ext cx="42863" cy="460772"/>
          </a:xfrm>
          <a:prstGeom prst="rect">
            <a:avLst/>
          </a:prstGeom>
          <a:solidFill>
            <a:srgbClr val="D5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4"/>
          <p:cNvSpPr/>
          <p:nvPr/>
        </p:nvSpPr>
        <p:spPr>
          <a:xfrm>
            <a:off x="4822031" y="2782491"/>
            <a:ext cx="295929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UAT Defect Backlog</a:t>
            </a:r>
            <a:endParaRPr lang="en-US" sz="700" dirty="0"/>
          </a:p>
        </p:txBody>
      </p:sp>
      <p:sp>
        <p:nvSpPr>
          <p:cNvPr id="51" name="Text 45"/>
          <p:cNvSpPr/>
          <p:nvPr/>
        </p:nvSpPr>
        <p:spPr>
          <a:xfrm>
            <a:off x="4822031" y="2932509"/>
            <a:ext cx="2959298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Status: Extended testing cycles approved.</a:t>
            </a:r>
            <a:endParaRPr lang="en-US" sz="550" dirty="0"/>
          </a:p>
        </p:txBody>
      </p:sp>
      <p:sp>
        <p:nvSpPr>
          <p:cNvPr id="52" name="Shape 46"/>
          <p:cNvSpPr/>
          <p:nvPr/>
        </p:nvSpPr>
        <p:spPr>
          <a:xfrm>
            <a:off x="7924205" y="2837855"/>
            <a:ext cx="476845" cy="135731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47"/>
          <p:cNvSpPr/>
          <p:nvPr/>
        </p:nvSpPr>
        <p:spPr>
          <a:xfrm>
            <a:off x="7924205" y="2837855"/>
            <a:ext cx="476845" cy="13573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450" b="1" kern="0" spc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CRITICAL</a:t>
            </a:r>
            <a:endParaRPr lang="en-US" sz="450" dirty="0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925" y="2847677"/>
            <a:ext cx="100013" cy="114300"/>
          </a:xfrm>
          <a:prstGeom prst="rect">
            <a:avLst/>
          </a:prstGeom>
        </p:spPr>
      </p:pic>
      <p:sp>
        <p:nvSpPr>
          <p:cNvPr id="55" name="Shape 48"/>
          <p:cNvSpPr/>
          <p:nvPr/>
        </p:nvSpPr>
        <p:spPr>
          <a:xfrm>
            <a:off x="357188" y="3457575"/>
            <a:ext cx="8429625" cy="585788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49"/>
          <p:cNvSpPr/>
          <p:nvPr/>
        </p:nvSpPr>
        <p:spPr>
          <a:xfrm>
            <a:off x="357188" y="3457575"/>
            <a:ext cx="71438" cy="585788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0"/>
          <p:cNvSpPr/>
          <p:nvPr/>
        </p:nvSpPr>
        <p:spPr>
          <a:xfrm>
            <a:off x="571500" y="3600450"/>
            <a:ext cx="80010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00E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GOVERNANCE COMMENTARY</a:t>
            </a:r>
            <a:endParaRPr lang="en-US" sz="550" dirty="0"/>
          </a:p>
        </p:txBody>
      </p:sp>
      <p:sp>
        <p:nvSpPr>
          <p:cNvPr id="58" name="Text 51"/>
          <p:cNvSpPr/>
          <p:nvPr/>
        </p:nvSpPr>
        <p:spPr>
          <a:xfrm>
            <a:off x="571500" y="3754041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"Risk profile remains stable. No material increase in exposure. Mitigations remain effective across all critical workstreams."</a:t>
            </a:r>
            <a:endParaRPr lang="en-US" sz="850" dirty="0"/>
          </a:p>
        </p:txBody>
      </p:sp>
      <p:sp>
        <p:nvSpPr>
          <p:cNvPr id="59" name="Shape 52"/>
          <p:cNvSpPr/>
          <p:nvPr/>
        </p:nvSpPr>
        <p:spPr>
          <a:xfrm>
            <a:off x="0" y="4707731"/>
            <a:ext cx="9144000" cy="4357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Shape 53"/>
          <p:cNvSpPr/>
          <p:nvPr/>
        </p:nvSpPr>
        <p:spPr>
          <a:xfrm>
            <a:off x="0" y="4707731"/>
            <a:ext cx="91440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4"/>
          <p:cNvSpPr/>
          <p:nvPr/>
        </p:nvSpPr>
        <p:spPr>
          <a:xfrm>
            <a:off x="357188" y="4880967"/>
            <a:ext cx="23110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ALPHA | BOARDROOM EDITION</a:t>
            </a:r>
            <a:endParaRPr lang="en-US" sz="550" dirty="0"/>
          </a:p>
        </p:txBody>
      </p:sp>
      <p:sp>
        <p:nvSpPr>
          <p:cNvPr id="62" name="Text 55"/>
          <p:cNvSpPr/>
          <p:nvPr/>
        </p:nvSpPr>
        <p:spPr>
          <a:xfrm>
            <a:off x="4388941" y="4880967"/>
            <a:ext cx="48220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PAGE 02</a:t>
            </a:r>
            <a:endParaRPr lang="en-US" sz="550" dirty="0"/>
          </a:p>
        </p:txBody>
      </p:sp>
      <p:sp>
        <p:nvSpPr>
          <p:cNvPr id="63" name="Text 56"/>
          <p:cNvSpPr/>
          <p:nvPr/>
        </p:nvSpPr>
        <p:spPr>
          <a:xfrm>
            <a:off x="6591895" y="4880967"/>
            <a:ext cx="2194917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PROPRIETARY GOVERNANCE PRODUCT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528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57188" y="225028"/>
            <a:ext cx="18038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E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80442" y="191095"/>
            <a:ext cx="324862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FINANCIAL DASHBOARD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90147" y="237530"/>
            <a:ext cx="1896666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FFFFFF">
                    <a:alpha val="4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NINA HESSE GOVERNANCE SUITE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357188" y="714375"/>
            <a:ext cx="2000250" cy="83403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57188" y="714375"/>
            <a:ext cx="2000250" cy="35719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00063" y="857250"/>
            <a:ext cx="17145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$2.5M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500063" y="1273373"/>
            <a:ext cx="17145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TOTAL BUDGET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2500313" y="714375"/>
            <a:ext cx="2000250" cy="83403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500313" y="714375"/>
            <a:ext cx="2000250" cy="35719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643188" y="857250"/>
            <a:ext cx="17145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$2.45M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2643188" y="1273373"/>
            <a:ext cx="17145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FORECAST SPEND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4643438" y="714375"/>
            <a:ext cx="2000250" cy="83403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643438" y="714375"/>
            <a:ext cx="2000250" cy="35719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786313" y="857250"/>
            <a:ext cx="17145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-2%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4786313" y="1273373"/>
            <a:ext cx="17145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VARIANCE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6786563" y="714375"/>
            <a:ext cx="2000250" cy="83403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6786563" y="714375"/>
            <a:ext cx="2000250" cy="35719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929438" y="857250"/>
            <a:ext cx="17145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3.4x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6929438" y="1273373"/>
            <a:ext cx="17145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ROI FORECAST</a:t>
            </a:r>
            <a:endParaRPr lang="en-US" sz="5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1743968"/>
            <a:ext cx="3332559" cy="185737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695441" y="2494955"/>
            <a:ext cx="65722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TOTAL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1695441" y="2607469"/>
            <a:ext cx="6572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$2.5M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119544" y="2065437"/>
            <a:ext cx="6929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Spent to Date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7808119" y="2065437"/>
            <a:ext cx="9786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$1,100,000 (44%)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4119544" y="2422624"/>
            <a:ext cx="9251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Committed Spend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7868841" y="2422624"/>
            <a:ext cx="9179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$800,000 (32%)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4119544" y="2779812"/>
            <a:ext cx="9429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Remaining Budget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7868841" y="2779812"/>
            <a:ext cx="9179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$600,000 (24%)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4119544" y="3136999"/>
            <a:ext cx="110906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Contingency Reserve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7893844" y="3136999"/>
            <a:ext cx="8929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$300,000 (12%)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357188" y="3832622"/>
            <a:ext cx="8429625" cy="732234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1"/>
          <p:cNvSpPr/>
          <p:nvPr/>
        </p:nvSpPr>
        <p:spPr>
          <a:xfrm>
            <a:off x="357188" y="3832622"/>
            <a:ext cx="71438" cy="73223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2"/>
          <p:cNvSpPr/>
          <p:nvPr/>
        </p:nvSpPr>
        <p:spPr>
          <a:xfrm>
            <a:off x="571500" y="3975497"/>
            <a:ext cx="80010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00E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EXECUTIVE FINANCIAL OBSERVATION</a:t>
            </a:r>
            <a:endParaRPr lang="en-US" sz="550" dirty="0"/>
          </a:p>
        </p:txBody>
      </p:sp>
      <p:sp>
        <p:nvSpPr>
          <p:cNvPr id="37" name="Text 33"/>
          <p:cNvSpPr/>
          <p:nvPr/>
        </p:nvSpPr>
        <p:spPr>
          <a:xfrm>
            <a:off x="571500" y="4129088"/>
            <a:ext cx="80010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"Programme remains within approved tolerances. Forecast variance remains favourable. Benefits realisation remains on track with 3.4x ROI projected."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0" y="4707731"/>
            <a:ext cx="9144000" cy="4357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5"/>
          <p:cNvSpPr/>
          <p:nvPr/>
        </p:nvSpPr>
        <p:spPr>
          <a:xfrm>
            <a:off x="0" y="4707731"/>
            <a:ext cx="91440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6"/>
          <p:cNvSpPr/>
          <p:nvPr/>
        </p:nvSpPr>
        <p:spPr>
          <a:xfrm>
            <a:off x="357188" y="4880967"/>
            <a:ext cx="23110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ALPHA | BOARDROOM EDITION</a:t>
            </a:r>
            <a:endParaRPr lang="en-US" sz="550" dirty="0"/>
          </a:p>
        </p:txBody>
      </p:sp>
      <p:sp>
        <p:nvSpPr>
          <p:cNvPr id="41" name="Text 37"/>
          <p:cNvSpPr/>
          <p:nvPr/>
        </p:nvSpPr>
        <p:spPr>
          <a:xfrm>
            <a:off x="4388048" y="4880967"/>
            <a:ext cx="48398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PAGE 03</a:t>
            </a:r>
            <a:endParaRPr lang="en-US" sz="550" dirty="0"/>
          </a:p>
        </p:txBody>
      </p:sp>
      <p:sp>
        <p:nvSpPr>
          <p:cNvPr id="42" name="Text 38"/>
          <p:cNvSpPr/>
          <p:nvPr/>
        </p:nvSpPr>
        <p:spPr>
          <a:xfrm>
            <a:off x="6591895" y="4880967"/>
            <a:ext cx="2194917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PROPRIETARY GOVERNANCE PRODUCT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57188" y="225028"/>
            <a:ext cx="1839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E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04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84014" y="191095"/>
            <a:ext cx="3223617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PROGRAMME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90147" y="237530"/>
            <a:ext cx="1896666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FFFFFF">
                    <a:alpha val="4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NINA HESSE GOVERNANCE SUITE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357188" y="785813"/>
            <a:ext cx="8429625" cy="59650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57188" y="785813"/>
            <a:ext cx="71438" cy="596503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71500" y="928688"/>
            <a:ext cx="800100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0010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"Strategic milestones are aligned with business objectives. Phase 2 integration is the critical path for Q3 delivery velocity and benefits realization."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364456" y="1603772"/>
            <a:ext cx="7415213" cy="32682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364456" y="1923455"/>
            <a:ext cx="741521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364456" y="1710928"/>
            <a:ext cx="105931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MAY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2423768" y="1710928"/>
            <a:ext cx="105931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JUN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3483080" y="1710928"/>
            <a:ext cx="105931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JUL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542393" y="1710928"/>
            <a:ext cx="105931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AUG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601705" y="1710928"/>
            <a:ext cx="105931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SEP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661017" y="1710928"/>
            <a:ext cx="105931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OCT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720329" y="1710928"/>
            <a:ext cx="105934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NOV</a:t>
            </a:r>
            <a:endParaRPr lang="en-US" sz="6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4333577"/>
            <a:ext cx="92869" cy="8572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1494" y="4323755"/>
            <a:ext cx="79117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KEY MILESTONE</a:t>
            </a:r>
            <a:endParaRPr lang="en-US" sz="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8414" y="4333577"/>
            <a:ext cx="60722" cy="857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0573" y="4323755"/>
            <a:ext cx="75902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DECISION GATE</a:t>
            </a:r>
            <a:endParaRPr lang="en-US" sz="6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5347" y="4333577"/>
            <a:ext cx="92869" cy="857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939653" y="4323755"/>
            <a:ext cx="1248370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STRATEGIC DELIVERABLE</a:t>
            </a:r>
            <a:endParaRPr lang="en-US" sz="600" dirty="0"/>
          </a:p>
        </p:txBody>
      </p:sp>
      <p:sp>
        <p:nvSpPr>
          <p:cNvPr id="25" name="Shape 19"/>
          <p:cNvSpPr/>
          <p:nvPr/>
        </p:nvSpPr>
        <p:spPr>
          <a:xfrm>
            <a:off x="0" y="4707731"/>
            <a:ext cx="9144000" cy="4357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0" y="4707731"/>
            <a:ext cx="91440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1"/>
          <p:cNvSpPr/>
          <p:nvPr/>
        </p:nvSpPr>
        <p:spPr>
          <a:xfrm>
            <a:off x="357188" y="4880967"/>
            <a:ext cx="23110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ALPHA | BOARDROOM EDITION</a:t>
            </a:r>
            <a:endParaRPr lang="en-US" sz="550" dirty="0"/>
          </a:p>
        </p:txBody>
      </p:sp>
      <p:sp>
        <p:nvSpPr>
          <p:cNvPr id="28" name="Text 22"/>
          <p:cNvSpPr/>
          <p:nvPr/>
        </p:nvSpPr>
        <p:spPr>
          <a:xfrm>
            <a:off x="4386263" y="4880967"/>
            <a:ext cx="48756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PAGE 04</a:t>
            </a:r>
            <a:endParaRPr lang="en-US" sz="550" dirty="0"/>
          </a:p>
        </p:txBody>
      </p:sp>
      <p:sp>
        <p:nvSpPr>
          <p:cNvPr id="29" name="Text 23"/>
          <p:cNvSpPr/>
          <p:nvPr/>
        </p:nvSpPr>
        <p:spPr>
          <a:xfrm>
            <a:off x="6591895" y="4880967"/>
            <a:ext cx="2194917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PROPRIETARY GOVERNANCE PRODUCT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357188" y="225028"/>
            <a:ext cx="1785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E5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78656" y="191095"/>
            <a:ext cx="302180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2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DECISIONS REQUIRED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90147" y="237530"/>
            <a:ext cx="1896666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FFFFFF">
                    <a:alpha val="4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NINA HESSE GOVERNANCE SUITE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357188" y="657225"/>
            <a:ext cx="8429625" cy="48220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357188" y="657225"/>
            <a:ext cx="71438" cy="482203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00063" y="742950"/>
            <a:ext cx="81438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00102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"Timely executive decisions on these four items will ensure Phase 2 delivery velocity and maintain alignment with strategic objectives."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57188" y="1268016"/>
            <a:ext cx="8429625" cy="56184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57188" y="1268016"/>
            <a:ext cx="42863" cy="561845"/>
          </a:xfrm>
          <a:prstGeom prst="rect">
            <a:avLst/>
          </a:prstGeom>
          <a:solidFill>
            <a:srgbClr val="D5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00063" y="1404277"/>
            <a:ext cx="85725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PRIORITY</a:t>
            </a:r>
            <a:endParaRPr lang="en-US" sz="500" dirty="0"/>
          </a:p>
        </p:txBody>
      </p:sp>
      <p:sp>
        <p:nvSpPr>
          <p:cNvPr id="13" name="Shape 10"/>
          <p:cNvSpPr/>
          <p:nvPr/>
        </p:nvSpPr>
        <p:spPr>
          <a:xfrm>
            <a:off x="500063" y="1534651"/>
            <a:ext cx="382191" cy="158948"/>
          </a:xfrm>
          <a:prstGeom prst="rect">
            <a:avLst/>
          </a:prstGeom>
          <a:solidFill>
            <a:srgbClr val="D5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00063" y="1534651"/>
            <a:ext cx="382191" cy="158948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500" b="1" kern="0" spc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HIGH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1500188" y="1423029"/>
            <a:ext cx="219670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DECISION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1500188" y="1553403"/>
            <a:ext cx="219670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Approve integration resources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839766" y="1423029"/>
            <a:ext cx="1464469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IMPACT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3839766" y="1553403"/>
            <a:ext cx="1464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Critical Path Velocity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447109" y="1353741"/>
            <a:ext cx="219670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RECOMMENDATION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5447109" y="1484114"/>
            <a:ext cx="21967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Approve 2 additional integration specialists to maintain timeline.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7786688" y="1492681"/>
            <a:ext cx="8572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30 May 2025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357188" y="1887010"/>
            <a:ext cx="8429625" cy="56184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357188" y="1887010"/>
            <a:ext cx="42863" cy="561845"/>
          </a:xfrm>
          <a:prstGeom prst="rect">
            <a:avLst/>
          </a:prstGeom>
          <a:solidFill>
            <a:srgbClr val="D5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500063" y="2023272"/>
            <a:ext cx="85725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PRIORITY</a:t>
            </a:r>
            <a:endParaRPr lang="en-US" sz="500" dirty="0"/>
          </a:p>
        </p:txBody>
      </p:sp>
      <p:sp>
        <p:nvSpPr>
          <p:cNvPr id="25" name="Shape 22"/>
          <p:cNvSpPr/>
          <p:nvPr/>
        </p:nvSpPr>
        <p:spPr>
          <a:xfrm>
            <a:off x="500063" y="2153645"/>
            <a:ext cx="382191" cy="158948"/>
          </a:xfrm>
          <a:prstGeom prst="rect">
            <a:avLst/>
          </a:prstGeom>
          <a:solidFill>
            <a:srgbClr val="D5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00063" y="2153645"/>
            <a:ext cx="382191" cy="158948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500" b="1" kern="0" spc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HIGH</a:t>
            </a:r>
            <a:endParaRPr lang="en-US" sz="500" dirty="0"/>
          </a:p>
        </p:txBody>
      </p:sp>
      <p:sp>
        <p:nvSpPr>
          <p:cNvPr id="27" name="Text 24"/>
          <p:cNvSpPr/>
          <p:nvPr/>
        </p:nvSpPr>
        <p:spPr>
          <a:xfrm>
            <a:off x="1500188" y="2042024"/>
            <a:ext cx="219670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DECISION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1500188" y="2172398"/>
            <a:ext cx="219670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Approve budget reallocation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839766" y="2042024"/>
            <a:ext cx="1464469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IMPACT</a:t>
            </a:r>
            <a:endParaRPr lang="en-US" sz="500" dirty="0"/>
          </a:p>
        </p:txBody>
      </p:sp>
      <p:sp>
        <p:nvSpPr>
          <p:cNvPr id="30" name="Text 27"/>
          <p:cNvSpPr/>
          <p:nvPr/>
        </p:nvSpPr>
        <p:spPr>
          <a:xfrm>
            <a:off x="3839766" y="2172398"/>
            <a:ext cx="1464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Financial Compliance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447109" y="1972735"/>
            <a:ext cx="219670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RECOMMENDATION</a:t>
            </a:r>
            <a:endParaRPr lang="en-US" sz="500" dirty="0"/>
          </a:p>
        </p:txBody>
      </p:sp>
      <p:sp>
        <p:nvSpPr>
          <p:cNvPr id="32" name="Text 29"/>
          <p:cNvSpPr/>
          <p:nvPr/>
        </p:nvSpPr>
        <p:spPr>
          <a:xfrm>
            <a:off x="5447109" y="2103109"/>
            <a:ext cx="21967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Reallocate $150K from contingency to training workstream.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786688" y="2111676"/>
            <a:ext cx="8572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30 May 2025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357188" y="2506005"/>
            <a:ext cx="8429625" cy="56184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357188" y="2506005"/>
            <a:ext cx="42863" cy="561845"/>
          </a:xfrm>
          <a:prstGeom prst="rect">
            <a:avLst/>
          </a:prstGeom>
          <a:solidFill>
            <a:srgbClr val="FFD6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500063" y="2642267"/>
            <a:ext cx="85725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PRIORITY</a:t>
            </a:r>
            <a:endParaRPr lang="en-US" sz="500" dirty="0"/>
          </a:p>
        </p:txBody>
      </p:sp>
      <p:sp>
        <p:nvSpPr>
          <p:cNvPr id="37" name="Shape 34"/>
          <p:cNvSpPr/>
          <p:nvPr/>
        </p:nvSpPr>
        <p:spPr>
          <a:xfrm>
            <a:off x="500063" y="2772640"/>
            <a:ext cx="519708" cy="158948"/>
          </a:xfrm>
          <a:prstGeom prst="rect">
            <a:avLst/>
          </a:prstGeom>
          <a:solidFill>
            <a:srgbClr val="FFD6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500063" y="2772640"/>
            <a:ext cx="519708" cy="158948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500" b="1" kern="0" spc="1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MEDIUM</a:t>
            </a:r>
            <a:endParaRPr lang="en-US" sz="500" dirty="0"/>
          </a:p>
        </p:txBody>
      </p:sp>
      <p:sp>
        <p:nvSpPr>
          <p:cNvPr id="39" name="Text 36"/>
          <p:cNvSpPr/>
          <p:nvPr/>
        </p:nvSpPr>
        <p:spPr>
          <a:xfrm>
            <a:off x="1500188" y="2661019"/>
            <a:ext cx="219670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DECISION</a:t>
            </a:r>
            <a:endParaRPr lang="en-US" sz="500" dirty="0"/>
          </a:p>
        </p:txBody>
      </p:sp>
      <p:sp>
        <p:nvSpPr>
          <p:cNvPr id="40" name="Text 37"/>
          <p:cNvSpPr/>
          <p:nvPr/>
        </p:nvSpPr>
        <p:spPr>
          <a:xfrm>
            <a:off x="1500188" y="2791392"/>
            <a:ext cx="219670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Approve timeline extension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3839766" y="2661019"/>
            <a:ext cx="1464469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IMPACT</a:t>
            </a:r>
            <a:endParaRPr lang="en-US" sz="500" dirty="0"/>
          </a:p>
        </p:txBody>
      </p:sp>
      <p:sp>
        <p:nvSpPr>
          <p:cNvPr id="42" name="Text 39"/>
          <p:cNvSpPr/>
          <p:nvPr/>
        </p:nvSpPr>
        <p:spPr>
          <a:xfrm>
            <a:off x="3839766" y="2791392"/>
            <a:ext cx="1464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Quality Assurance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5447109" y="2591730"/>
            <a:ext cx="219670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RECOMMENDATION</a:t>
            </a:r>
            <a:endParaRPr lang="en-US" sz="500" dirty="0"/>
          </a:p>
        </p:txBody>
      </p:sp>
      <p:sp>
        <p:nvSpPr>
          <p:cNvPr id="44" name="Text 41"/>
          <p:cNvSpPr/>
          <p:nvPr/>
        </p:nvSpPr>
        <p:spPr>
          <a:xfrm>
            <a:off x="5447109" y="2722104"/>
            <a:ext cx="21967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Extend UAT phase by 2 weeks to ensure quality sign-off.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7786688" y="2730671"/>
            <a:ext cx="8572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13 June 2025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357188" y="3125000"/>
            <a:ext cx="8429625" cy="56184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357188" y="3125000"/>
            <a:ext cx="42863" cy="561845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/>
          <p:nvPr/>
        </p:nvSpPr>
        <p:spPr>
          <a:xfrm>
            <a:off x="500063" y="3261261"/>
            <a:ext cx="857250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PRIORITY</a:t>
            </a:r>
            <a:endParaRPr lang="en-US" sz="500" dirty="0"/>
          </a:p>
        </p:txBody>
      </p:sp>
      <p:sp>
        <p:nvSpPr>
          <p:cNvPr id="49" name="Shape 46"/>
          <p:cNvSpPr/>
          <p:nvPr/>
        </p:nvSpPr>
        <p:spPr>
          <a:xfrm>
            <a:off x="500063" y="3391635"/>
            <a:ext cx="360759" cy="158948"/>
          </a:xfrm>
          <a:prstGeom prst="rect">
            <a:avLst/>
          </a:prstGeom>
          <a:solidFill>
            <a:srgbClr val="00C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500063" y="3391635"/>
            <a:ext cx="360759" cy="158948"/>
          </a:xfrm>
          <a:prstGeom prst="rect">
            <a:avLst/>
          </a:prstGeom>
          <a:noFill/>
          <a:ln/>
        </p:spPr>
        <p:txBody>
          <a:bodyPr wrap="none" lIns="102108" tIns="42545" rIns="102108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500" b="1" kern="0" spc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LOW</a:t>
            </a:r>
            <a:endParaRPr lang="en-US" sz="500" dirty="0"/>
          </a:p>
        </p:txBody>
      </p:sp>
      <p:sp>
        <p:nvSpPr>
          <p:cNvPr id="51" name="Text 48"/>
          <p:cNvSpPr/>
          <p:nvPr/>
        </p:nvSpPr>
        <p:spPr>
          <a:xfrm>
            <a:off x="1500188" y="3280014"/>
            <a:ext cx="219670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DECISION</a:t>
            </a:r>
            <a:endParaRPr lang="en-US" sz="500" dirty="0"/>
          </a:p>
        </p:txBody>
      </p:sp>
      <p:sp>
        <p:nvSpPr>
          <p:cNvPr id="52" name="Text 49"/>
          <p:cNvSpPr/>
          <p:nvPr/>
        </p:nvSpPr>
        <p:spPr>
          <a:xfrm>
            <a:off x="1500188" y="3410387"/>
            <a:ext cx="219670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Approve change adoption plan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3839766" y="3280014"/>
            <a:ext cx="1464469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IMPACT</a:t>
            </a:r>
            <a:endParaRPr lang="en-US" sz="500" dirty="0"/>
          </a:p>
        </p:txBody>
      </p:sp>
      <p:sp>
        <p:nvSpPr>
          <p:cNvPr id="54" name="Text 51"/>
          <p:cNvSpPr/>
          <p:nvPr/>
        </p:nvSpPr>
        <p:spPr>
          <a:xfrm>
            <a:off x="3839766" y="3410387"/>
            <a:ext cx="14644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User Readiness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5447109" y="3210725"/>
            <a:ext cx="219670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b="1" kern="0" spc="1" dirty="0">
                <a:solidFill>
                  <a:srgbClr val="999999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RECOMMENDATION</a:t>
            </a:r>
            <a:endParaRPr lang="en-US" sz="500" dirty="0"/>
          </a:p>
        </p:txBody>
      </p:sp>
      <p:sp>
        <p:nvSpPr>
          <p:cNvPr id="56" name="Text 53"/>
          <p:cNvSpPr/>
          <p:nvPr/>
        </p:nvSpPr>
        <p:spPr>
          <a:xfrm>
            <a:off x="5447109" y="3341098"/>
            <a:ext cx="21967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Approve proposed change adoption and communication approach.</a:t>
            </a:r>
            <a:endParaRPr lang="en-US" sz="650" dirty="0"/>
          </a:p>
        </p:txBody>
      </p:sp>
      <p:sp>
        <p:nvSpPr>
          <p:cNvPr id="57" name="Text 54"/>
          <p:cNvSpPr/>
          <p:nvPr/>
        </p:nvSpPr>
        <p:spPr>
          <a:xfrm>
            <a:off x="7786688" y="3349665"/>
            <a:ext cx="8572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1021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30 May 2025</a:t>
            </a:r>
            <a:endParaRPr lang="en-US" sz="650" dirty="0"/>
          </a:p>
        </p:txBody>
      </p:sp>
      <p:sp>
        <p:nvSpPr>
          <p:cNvPr id="58" name="Shape 55"/>
          <p:cNvSpPr/>
          <p:nvPr/>
        </p:nvSpPr>
        <p:spPr>
          <a:xfrm>
            <a:off x="357188" y="4207669"/>
            <a:ext cx="8429625" cy="328613"/>
          </a:xfrm>
          <a:prstGeom prst="rect">
            <a:avLst/>
          </a:prstGeom>
          <a:solidFill>
            <a:srgbClr val="0010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Shape 56"/>
          <p:cNvSpPr/>
          <p:nvPr/>
        </p:nvSpPr>
        <p:spPr>
          <a:xfrm>
            <a:off x="357188" y="4207669"/>
            <a:ext cx="71438" cy="328613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93394"/>
            <a:ext cx="157163" cy="157163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871538" y="4303216"/>
            <a:ext cx="493633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Decisions made today keep us on track for a successful delivery and benefits realization.</a:t>
            </a:r>
            <a:endParaRPr lang="en-US" sz="800" dirty="0"/>
          </a:p>
        </p:txBody>
      </p:sp>
      <p:sp>
        <p:nvSpPr>
          <p:cNvPr id="62" name="Shape 58"/>
          <p:cNvSpPr/>
          <p:nvPr/>
        </p:nvSpPr>
        <p:spPr>
          <a:xfrm>
            <a:off x="0" y="4707731"/>
            <a:ext cx="9144000" cy="4357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Shape 59"/>
          <p:cNvSpPr/>
          <p:nvPr/>
        </p:nvSpPr>
        <p:spPr>
          <a:xfrm>
            <a:off x="0" y="4707731"/>
            <a:ext cx="914400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0"/>
          <p:cNvSpPr/>
          <p:nvPr/>
        </p:nvSpPr>
        <p:spPr>
          <a:xfrm>
            <a:off x="357188" y="4880967"/>
            <a:ext cx="231100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PROJECT ALPHA | BOARDROOM EDITION</a:t>
            </a:r>
            <a:endParaRPr lang="en-US" sz="550" dirty="0"/>
          </a:p>
        </p:txBody>
      </p:sp>
      <p:sp>
        <p:nvSpPr>
          <p:cNvPr id="65" name="Text 61"/>
          <p:cNvSpPr/>
          <p:nvPr/>
        </p:nvSpPr>
        <p:spPr>
          <a:xfrm>
            <a:off x="4388941" y="4880967"/>
            <a:ext cx="482203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00102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PAGE 05</a:t>
            </a:r>
            <a:endParaRPr lang="en-US" sz="550" dirty="0"/>
          </a:p>
        </p:txBody>
      </p:sp>
      <p:sp>
        <p:nvSpPr>
          <p:cNvPr id="66" name="Text 62"/>
          <p:cNvSpPr/>
          <p:nvPr/>
        </p:nvSpPr>
        <p:spPr>
          <a:xfrm>
            <a:off x="6591895" y="4880967"/>
            <a:ext cx="2194917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2" dirty="0">
                <a:solidFill>
                  <a:srgbClr val="999999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PROPRIETARY GOVERNANCE PRODUCT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On-screen Show (16:9)</PresentationFormat>
  <Paragraphs>156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Inter</vt:lpstr>
      <vt:lpstr>Inter Black</vt:lpstr>
      <vt:lpstr>Inter Bold</vt:lpstr>
      <vt:lpstr>Inter ExtraBold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 Hesse</cp:lastModifiedBy>
  <cp:revision>2</cp:revision>
  <dcterms:created xsi:type="dcterms:W3CDTF">2026-06-03T07:57:41Z</dcterms:created>
  <dcterms:modified xsi:type="dcterms:W3CDTF">2026-06-03T08:14:20Z</dcterms:modified>
</cp:coreProperties>
</file>