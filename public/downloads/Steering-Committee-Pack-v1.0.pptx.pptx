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338" r:id="rId3"/>
    <p:sldId id="4083" r:id="rId4"/>
    <p:sldId id="3307" r:id="rId5"/>
    <p:sldId id="258" r:id="rId6"/>
    <p:sldId id="259" r:id="rId7"/>
    <p:sldId id="260" r:id="rId8"/>
    <p:sldId id="332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96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Your Text 1</c:v>
                </c:pt>
              </c:strCache>
            </c:strRef>
          </c:tx>
          <c:spPr>
            <a:ln w="63500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Sheet1!$A$2:$A$7</c:f>
              <c:numCache>
                <c:formatCode>General</c:formatCode>
                <c:ptCount val="6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</c:numCache>
            </c:numRef>
          </c:xVal>
          <c:yVal>
            <c:numRef>
              <c:f>Sheet1!$B$2:$B$7</c:f>
              <c:numCache>
                <c:formatCode>"$"#,##0</c:formatCode>
                <c:ptCount val="6"/>
                <c:pt idx="0">
                  <c:v>0</c:v>
                </c:pt>
                <c:pt idx="1">
                  <c:v>10000</c:v>
                </c:pt>
                <c:pt idx="2">
                  <c:v>7500</c:v>
                </c:pt>
                <c:pt idx="3">
                  <c:v>29000</c:v>
                </c:pt>
                <c:pt idx="4">
                  <c:v>17000</c:v>
                </c:pt>
                <c:pt idx="5">
                  <c:v>30000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66C-3347-88D9-71A2F9B80A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Your Text 2</c:v>
                </c:pt>
              </c:strCache>
            </c:strRef>
          </c:tx>
          <c:spPr>
            <a:ln w="635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Sheet1!$A$2:$A$7</c:f>
              <c:numCache>
                <c:formatCode>General</c:formatCode>
                <c:ptCount val="6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</c:numCache>
            </c:numRef>
          </c:xVal>
          <c:yVal>
            <c:numRef>
              <c:f>Sheet1!$C$2:$C$7</c:f>
              <c:numCache>
                <c:formatCode>"$"#,##0</c:formatCode>
                <c:ptCount val="6"/>
                <c:pt idx="0">
                  <c:v>5000</c:v>
                </c:pt>
                <c:pt idx="1">
                  <c:v>17000</c:v>
                </c:pt>
                <c:pt idx="2">
                  <c:v>13000</c:v>
                </c:pt>
                <c:pt idx="3">
                  <c:v>29000</c:v>
                </c:pt>
                <c:pt idx="4">
                  <c:v>22500</c:v>
                </c:pt>
                <c:pt idx="5">
                  <c:v>37500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66C-3347-88D9-71A2F9B80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24931104"/>
        <c:axId val="1124207472"/>
      </c:scatterChart>
      <c:valAx>
        <c:axId val="112493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pPr>
            <a:endParaRPr lang="en-US"/>
          </a:p>
        </c:txPr>
        <c:crossAx val="1124207472"/>
        <c:crosses val="autoZero"/>
        <c:crossBetween val="midCat"/>
      </c:valAx>
      <c:valAx>
        <c:axId val="1124207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pPr>
            <a:endParaRPr lang="en-US"/>
          </a:p>
        </c:txPr>
        <c:crossAx val="112493110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 b="0" i="0">
          <a:solidFill>
            <a:schemeClr val="tx2"/>
          </a:solidFill>
          <a:latin typeface="Lato Light" panose="020F0502020204030203" pitchFamily="34" charset="0"/>
          <a:ea typeface="Lato Light" panose="020F0502020204030203" pitchFamily="34" charset="0"/>
          <a:cs typeface="Lato Light" panose="020F0502020204030203" pitchFamily="34" charset="0"/>
        </a:defRPr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0.59065</cdr:x>
      <cdr:y>0.22882</cdr:y>
    </cdr:from>
    <cdr:to>
      <cdr:x>0.62374</cdr:x>
      <cdr:y>0.28132</cdr:y>
    </cdr:to>
    <cdr:sp macro="" textlink="">
      <cdr:nvSpPr>
        <cdr:cNvPr id="2" name="Donut 1">
          <a:extLst xmlns:a="http://schemas.openxmlformats.org/drawingml/2006/main">
            <a:ext uri="{FF2B5EF4-FFF2-40B4-BE49-F238E27FC236}">
              <a16:creationId xmlns:a16="http://schemas.microsoft.com/office/drawing/2014/main" id="{406D2F7E-2AC3-4849-827D-184B18D38E91}"/>
            </a:ext>
          </a:extLst>
        </cdr:cNvPr>
        <cdr:cNvSpPr>
          <a:spLocks xmlns:a="http://schemas.openxmlformats.org/drawingml/2006/main" noChangeAspect="1"/>
        </cdr:cNvSpPr>
      </cdr:nvSpPr>
      <cdr:spPr>
        <a:xfrm xmlns:a="http://schemas.openxmlformats.org/drawingml/2006/main">
          <a:off x="4897101" y="1195646"/>
          <a:ext cx="274320" cy="274320"/>
        </a:xfrm>
        <a:prstGeom xmlns:a="http://schemas.openxmlformats.org/drawingml/2006/main" prst="donut">
          <a:avLst>
            <a:gd name="adj" fmla="val 32139"/>
          </a:avLst>
        </a:prstGeom>
        <a:solidFill xmlns:a="http://schemas.openxmlformats.org/drawingml/2006/main">
          <a:schemeClr val="accent2">
            <a:lumMod val="50000"/>
          </a:scheme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 dirty="0">
            <a:latin typeface="Lato Light" panose="020F0502020204030203" pitchFamily="34" charset="0"/>
          </a:endParaRPr>
        </a:p>
      </cdr:txBody>
    </cdr:sp>
  </cdr:relSizeAnchor>
  <cdr:relSizeAnchor xmlns:cdr="http://schemas.openxmlformats.org/drawingml/2006/chartDrawing">
    <cdr:from>
      <cdr:x>0.52859</cdr:x>
      <cdr:y>0.04623</cdr:y>
    </cdr:from>
    <cdr:to>
      <cdr:x>0.66747</cdr:x>
      <cdr:y>0.16847</cdr:y>
    </cdr:to>
    <cdr:sp macro="" textlink="">
      <cdr:nvSpPr>
        <cdr:cNvPr id="3" name="Rounded Rectangular Callout 2">
          <a:extLst xmlns:a="http://schemas.openxmlformats.org/drawingml/2006/main">
            <a:ext uri="{FF2B5EF4-FFF2-40B4-BE49-F238E27FC236}">
              <a16:creationId xmlns:a16="http://schemas.microsoft.com/office/drawing/2014/main" id="{1BECAFAC-0667-7148-9395-11A037B00C04}"/>
            </a:ext>
          </a:extLst>
        </cdr:cNvPr>
        <cdr:cNvSpPr/>
      </cdr:nvSpPr>
      <cdr:spPr>
        <a:xfrm xmlns:a="http://schemas.openxmlformats.org/drawingml/2006/main">
          <a:off x="4382546" y="215842"/>
          <a:ext cx="1151467" cy="570677"/>
        </a:xfrm>
        <a:prstGeom xmlns:a="http://schemas.openxmlformats.org/drawingml/2006/main" prst="wedgeRoundRectCallout">
          <a:avLst>
            <a:gd name="adj1" fmla="val 735"/>
            <a:gd name="adj2" fmla="val 78325"/>
            <a:gd name="adj3" fmla="val 16667"/>
          </a:avLst>
        </a:prstGeom>
        <a:solidFill xmlns:a="http://schemas.openxmlformats.org/drawingml/2006/main">
          <a:schemeClr val="accent2">
            <a:lumMod val="60000"/>
            <a:lumOff val="40000"/>
            <a:alpha val="63000"/>
          </a:scheme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 dirty="0">
            <a:latin typeface="Lato Light" panose="020F0502020204030203" pitchFamily="34" charset="0"/>
          </a:endParaRP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508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PROJECT STATUS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6534546" cy="6771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GB" sz="3800" b="1" dirty="0">
                <a:solidFill>
                  <a:srgbClr val="0F172A"/>
                </a:solidFill>
                <a:latin typeface="Aptos"/>
              </a:rPr>
              <a:t>STEERING COMMITTEE PACK</a:t>
            </a:r>
            <a:endParaRPr sz="3800" b="1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8934" y="2963091"/>
            <a:ext cx="710488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475569"/>
                </a:solidFill>
                <a:latin typeface="Aptos"/>
              </a:rPr>
              <a:t>A premium project and </a:t>
            </a:r>
            <a:r>
              <a:rPr sz="1400" b="0" dirty="0" err="1">
                <a:solidFill>
                  <a:srgbClr val="475569"/>
                </a:solidFill>
                <a:latin typeface="Aptos"/>
              </a:rPr>
              <a:t>programme</a:t>
            </a:r>
            <a:r>
              <a:rPr sz="1400" b="0" dirty="0">
                <a:solidFill>
                  <a:srgbClr val="475569"/>
                </a:solidFill>
                <a:latin typeface="Aptos"/>
              </a:rPr>
              <a:t> reporting template for weekly governance updates, sponsor briefings and delivery leadership meetings.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943076"/>
            <a:ext cx="1645920" cy="438912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4071092"/>
            <a:ext cx="16459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0891B2"/>
                </a:solidFill>
                <a:latin typeface="Aptos"/>
              </a:rPr>
              <a:t>Weekly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6312" y="3943076"/>
            <a:ext cx="1645920" cy="438912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96312" y="4071092"/>
            <a:ext cx="16459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0891B2"/>
                </a:solidFill>
                <a:latin typeface="Aptos"/>
              </a:rPr>
              <a:t>RAID Snapshot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3943076"/>
            <a:ext cx="1645920" cy="438912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70831" y="4071092"/>
            <a:ext cx="16459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0891B2"/>
                </a:solidFill>
                <a:latin typeface="Aptos"/>
              </a:rPr>
              <a:t>Plan on a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417320"/>
            <a:ext cx="35204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691640"/>
            <a:ext cx="2560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PROJECT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938528"/>
            <a:ext cx="274320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[Insert project / programme name]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51460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2651760"/>
            <a:ext cx="11430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CURRENT 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39912" y="2916936"/>
            <a:ext cx="1088136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2962656"/>
            <a:ext cx="10881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Amber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251460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0" y="2651760"/>
            <a:ext cx="11430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FORECAST RAG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5832" y="2916936"/>
            <a:ext cx="1088136" cy="310896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85832" y="2962656"/>
            <a:ext cx="10881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730752"/>
            <a:ext cx="14173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REPORTING 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913632"/>
            <a:ext cx="141732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Aptos"/>
              </a:rPr>
              <a:t>DD/MM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3730752"/>
            <a:ext cx="14173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VERSION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3913632"/>
            <a:ext cx="141732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Aptos"/>
              </a:rPr>
              <a:t>1.0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617720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Prepared for sponsor and steering committee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Nina Hesse | Executive PMO Reporting Template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336792"/>
            <a:ext cx="11183112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7C8677-B872-D44E-92C4-7F7043B359F0}"/>
              </a:ext>
            </a:extLst>
          </p:cNvPr>
          <p:cNvSpPr txBox="1"/>
          <p:nvPr/>
        </p:nvSpPr>
        <p:spPr>
          <a:xfrm>
            <a:off x="4050424" y="306186"/>
            <a:ext cx="40911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TABLE OF CONTENTS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1F41F18-1FF4-EC86-8445-9696EA807379}"/>
              </a:ext>
            </a:extLst>
          </p:cNvPr>
          <p:cNvGrpSpPr/>
          <p:nvPr/>
        </p:nvGrpSpPr>
        <p:grpSpPr>
          <a:xfrm>
            <a:off x="2747912" y="787594"/>
            <a:ext cx="4316917" cy="5014492"/>
            <a:chOff x="2747912" y="787593"/>
            <a:chExt cx="4630652" cy="521224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D3B793F-D3F3-1442-8A3A-3ACADA4059C4}"/>
                </a:ext>
              </a:extLst>
            </p:cNvPr>
            <p:cNvSpPr txBox="1"/>
            <p:nvPr/>
          </p:nvSpPr>
          <p:spPr>
            <a:xfrm>
              <a:off x="4813438" y="787593"/>
              <a:ext cx="25651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spc="150" dirty="0">
                  <a:solidFill>
                    <a:schemeClr val="bg1">
                      <a:lumMod val="65000"/>
                    </a:schemeClr>
                  </a:solidFill>
                  <a:latin typeface="Poppins Light" pitchFamily="2" charset="77"/>
                  <a:cs typeface="Poppins Light" pitchFamily="2" charset="77"/>
                </a:rPr>
                <a:t>WRITE YOUR SUBTITLE HERE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1D44CE-2CAE-4E44-851C-CD6570E19DED}"/>
                </a:ext>
              </a:extLst>
            </p:cNvPr>
            <p:cNvSpPr/>
            <p:nvPr/>
          </p:nvSpPr>
          <p:spPr>
            <a:xfrm>
              <a:off x="2747912" y="1058120"/>
              <a:ext cx="864973" cy="8649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20E3D7A-AFF3-EC4C-A5AE-D0B8DA88A5DD}"/>
                </a:ext>
              </a:extLst>
            </p:cNvPr>
            <p:cNvSpPr txBox="1"/>
            <p:nvPr/>
          </p:nvSpPr>
          <p:spPr>
            <a:xfrm>
              <a:off x="2890896" y="1213608"/>
              <a:ext cx="579006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chemeClr val="bg1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01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B09B4AB-81C3-C64B-A635-E2DD7EAC2B3D}"/>
                </a:ext>
              </a:extLst>
            </p:cNvPr>
            <p:cNvSpPr txBox="1"/>
            <p:nvPr/>
          </p:nvSpPr>
          <p:spPr>
            <a:xfrm>
              <a:off x="3819350" y="1207445"/>
              <a:ext cx="2411238" cy="338554"/>
            </a:xfrm>
            <a:prstGeom prst="rect">
              <a:avLst/>
            </a:prstGeom>
            <a:noFill/>
          </p:spPr>
          <p:txBody>
            <a:bodyPr wrap="none" rtlCol="0" anchor="b" anchorCtr="0">
              <a:spAutoFit/>
            </a:bodyPr>
            <a:lstStyle/>
            <a:p>
              <a:r>
                <a:rPr lang="en-US" sz="1600" b="1" dirty="0">
                  <a:solidFill>
                    <a:schemeClr val="tx2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EXECUTIVE SUMMARY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3C760CB-1B62-6741-9E40-1C3CC7AF7D15}"/>
                </a:ext>
              </a:extLst>
            </p:cNvPr>
            <p:cNvSpPr/>
            <p:nvPr/>
          </p:nvSpPr>
          <p:spPr>
            <a:xfrm>
              <a:off x="2747912" y="2417036"/>
              <a:ext cx="864973" cy="8649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A3A890A-2375-C340-8418-B6E55D63F940}"/>
                </a:ext>
              </a:extLst>
            </p:cNvPr>
            <p:cNvSpPr txBox="1"/>
            <p:nvPr/>
          </p:nvSpPr>
          <p:spPr>
            <a:xfrm>
              <a:off x="2853225" y="2572523"/>
              <a:ext cx="654346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chemeClr val="bg1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02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6B765B0-86F0-C546-81AC-56F23618886A}"/>
                </a:ext>
              </a:extLst>
            </p:cNvPr>
            <p:cNvSpPr txBox="1"/>
            <p:nvPr/>
          </p:nvSpPr>
          <p:spPr>
            <a:xfrm>
              <a:off x="3819350" y="2568983"/>
              <a:ext cx="2236510" cy="338554"/>
            </a:xfrm>
            <a:prstGeom prst="rect">
              <a:avLst/>
            </a:prstGeom>
            <a:noFill/>
          </p:spPr>
          <p:txBody>
            <a:bodyPr wrap="none" rtlCol="0" anchor="b" anchorCtr="0">
              <a:spAutoFit/>
            </a:bodyPr>
            <a:lstStyle/>
            <a:p>
              <a:r>
                <a:rPr lang="en-US" sz="1600" b="1" dirty="0">
                  <a:solidFill>
                    <a:schemeClr val="tx2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PROJECT PROGRESS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F6A505-6F40-2542-9A3E-6E36A8DE36FC}"/>
                </a:ext>
              </a:extLst>
            </p:cNvPr>
            <p:cNvSpPr/>
            <p:nvPr/>
          </p:nvSpPr>
          <p:spPr>
            <a:xfrm>
              <a:off x="2747912" y="3775951"/>
              <a:ext cx="864973" cy="86497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DDBF09B-DC27-7444-9F90-7739D79BFF71}"/>
                </a:ext>
              </a:extLst>
            </p:cNvPr>
            <p:cNvSpPr txBox="1"/>
            <p:nvPr/>
          </p:nvSpPr>
          <p:spPr>
            <a:xfrm>
              <a:off x="2846813" y="3931439"/>
              <a:ext cx="667170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chemeClr val="bg1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03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1AB3CDF-39A2-6A44-A01D-EBEFD7AF9704}"/>
                </a:ext>
              </a:extLst>
            </p:cNvPr>
            <p:cNvSpPr txBox="1"/>
            <p:nvPr/>
          </p:nvSpPr>
          <p:spPr>
            <a:xfrm>
              <a:off x="3872314" y="3847688"/>
              <a:ext cx="1882247" cy="338554"/>
            </a:xfrm>
            <a:prstGeom prst="rect">
              <a:avLst/>
            </a:prstGeom>
            <a:noFill/>
          </p:spPr>
          <p:txBody>
            <a:bodyPr wrap="none" rtlCol="0" anchor="b" anchorCtr="0">
              <a:spAutoFit/>
            </a:bodyPr>
            <a:lstStyle/>
            <a:p>
              <a:r>
                <a:rPr lang="en-US" sz="1600" b="1" dirty="0">
                  <a:solidFill>
                    <a:schemeClr val="tx2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AGENDA ITEM 03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D6A55D6-B746-0741-921B-ED26606154E1}"/>
                </a:ext>
              </a:extLst>
            </p:cNvPr>
            <p:cNvSpPr/>
            <p:nvPr/>
          </p:nvSpPr>
          <p:spPr>
            <a:xfrm>
              <a:off x="2747912" y="5134867"/>
              <a:ext cx="864973" cy="86497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F3FEF07-6DE1-BB43-92C6-EA4E96E61E43}"/>
                </a:ext>
              </a:extLst>
            </p:cNvPr>
            <p:cNvSpPr txBox="1"/>
            <p:nvPr/>
          </p:nvSpPr>
          <p:spPr>
            <a:xfrm>
              <a:off x="2833187" y="5290355"/>
              <a:ext cx="694422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chemeClr val="bg1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04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64140FD-E640-584B-9B33-1F8F6007B15A}"/>
                </a:ext>
              </a:extLst>
            </p:cNvPr>
            <p:cNvSpPr txBox="1"/>
            <p:nvPr/>
          </p:nvSpPr>
          <p:spPr>
            <a:xfrm>
              <a:off x="3872314" y="5208443"/>
              <a:ext cx="1898277" cy="338554"/>
            </a:xfrm>
            <a:prstGeom prst="rect">
              <a:avLst/>
            </a:prstGeom>
            <a:noFill/>
          </p:spPr>
          <p:txBody>
            <a:bodyPr wrap="none" rtlCol="0" anchor="b" anchorCtr="0">
              <a:spAutoFit/>
            </a:bodyPr>
            <a:lstStyle/>
            <a:p>
              <a:r>
                <a:rPr lang="en-US" sz="1600" b="1" dirty="0">
                  <a:solidFill>
                    <a:schemeClr val="tx2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AGENDA ITEM 04</a:t>
              </a:r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930A1CEC-6C69-6786-9DCC-6EEE832AC9A7}"/>
              </a:ext>
            </a:extLst>
          </p:cNvPr>
          <p:cNvSpPr/>
          <p:nvPr/>
        </p:nvSpPr>
        <p:spPr>
          <a:xfrm>
            <a:off x="2631021" y="6025844"/>
            <a:ext cx="1040149" cy="83215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05</a:t>
            </a:r>
          </a:p>
          <a:p>
            <a:pPr algn="ctr"/>
            <a:endParaRPr lang="en-US" sz="3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D1E314-A24F-D457-DCE9-716B2F4D26A1}"/>
              </a:ext>
            </a:extLst>
          </p:cNvPr>
          <p:cNvSpPr txBox="1"/>
          <p:nvPr/>
        </p:nvSpPr>
        <p:spPr>
          <a:xfrm>
            <a:off x="3796134" y="6103368"/>
            <a:ext cx="1891865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AGENDA ITEM 05</a:t>
            </a:r>
          </a:p>
        </p:txBody>
      </p:sp>
    </p:spTree>
    <p:extLst>
      <p:ext uri="{BB962C8B-B14F-4D97-AF65-F5344CB8AC3E}">
        <p14:creationId xmlns:p14="http://schemas.microsoft.com/office/powerpoint/2010/main" val="4076026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TextBox 556">
            <a:extLst>
              <a:ext uri="{FF2B5EF4-FFF2-40B4-BE49-F238E27FC236}">
                <a16:creationId xmlns:a16="http://schemas.microsoft.com/office/drawing/2014/main" id="{322061FC-DE53-024A-8C14-FD540D4D59E1}"/>
              </a:ext>
            </a:extLst>
          </p:cNvPr>
          <p:cNvSpPr txBox="1"/>
          <p:nvPr/>
        </p:nvSpPr>
        <p:spPr>
          <a:xfrm>
            <a:off x="754380" y="-143481"/>
            <a:ext cx="10668000" cy="112928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>
              <a:lnSpc>
                <a:spcPts val="9400"/>
              </a:lnSpc>
              <a:defRPr sz="8000" b="1" spc="-290">
                <a:solidFill>
                  <a:schemeClr val="tx2"/>
                </a:solidFill>
                <a:latin typeface="Raleway" panose="020B0503030101060003" pitchFamily="34" charset="77"/>
              </a:defRPr>
            </a:lvl1pPr>
          </a:lstStyle>
          <a:p>
            <a:r>
              <a:rPr lang="en-US" sz="3700" dirty="0">
                <a:latin typeface="Poppins" pitchFamily="2" charset="77"/>
                <a:cs typeface="Poppins" panose="00000500000000000000" pitchFamily="2" charset="0"/>
              </a:rPr>
              <a:t>EXECUTIVE SUMMARY SLIDE</a:t>
            </a: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84B71C31-66C5-3F49-8C46-2B4D8451943C}"/>
              </a:ext>
            </a:extLst>
          </p:cNvPr>
          <p:cNvSpPr txBox="1"/>
          <p:nvPr/>
        </p:nvSpPr>
        <p:spPr>
          <a:xfrm>
            <a:off x="758191" y="956446"/>
            <a:ext cx="10668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spc="-60" dirty="0">
                <a:latin typeface="Poppins" pitchFamily="2" charset="77"/>
                <a:cs typeface="Poppins" panose="00000500000000000000" pitchFamily="2" charset="0"/>
              </a:rPr>
              <a:t>Make a big impact with our professional slides and charts</a:t>
            </a: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8803A8FD-836E-D849-586B-BAD1D6BE294B}"/>
              </a:ext>
            </a:extLst>
          </p:cNvPr>
          <p:cNvSpPr/>
          <p:nvPr/>
        </p:nvSpPr>
        <p:spPr>
          <a:xfrm>
            <a:off x="1112653" y="1668700"/>
            <a:ext cx="1514240" cy="589227"/>
          </a:xfrm>
          <a:prstGeom prst="round2SameRect">
            <a:avLst>
              <a:gd name="adj1" fmla="val 33240"/>
              <a:gd name="adj2" fmla="val 0"/>
            </a:avLst>
          </a:pr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hangingPunct="0"/>
            <a:endParaRPr lang="en-US" sz="900" dirty="0">
              <a:latin typeface="Poppins" panose="00000500000000000000" pitchFamily="2" charset="0"/>
              <a:ea typeface="Microsoft YaHei" pitchFamily="2"/>
              <a:cs typeface="Lucida Sans" pitchFamily="2"/>
            </a:endParaRP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00EC0603-4E49-433D-5E69-3C10871E22A8}"/>
              </a:ext>
            </a:extLst>
          </p:cNvPr>
          <p:cNvSpPr/>
          <p:nvPr/>
        </p:nvSpPr>
        <p:spPr>
          <a:xfrm>
            <a:off x="3188141" y="1664474"/>
            <a:ext cx="1514240" cy="589227"/>
          </a:xfrm>
          <a:prstGeom prst="round2SameRect">
            <a:avLst>
              <a:gd name="adj1" fmla="val 33240"/>
              <a:gd name="adj2" fmla="val 0"/>
            </a:avLst>
          </a:prstGeom>
          <a:solidFill>
            <a:schemeClr val="accent2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hangingPunct="0"/>
            <a:endParaRPr lang="en-US" sz="900" dirty="0">
              <a:latin typeface="Poppins" panose="00000500000000000000" pitchFamily="2" charset="0"/>
              <a:ea typeface="Microsoft YaHei" pitchFamily="2"/>
              <a:cs typeface="Lucida Sans" pitchFamily="2"/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02B5B253-E245-CE81-F767-FAF7CF9DDE09}"/>
              </a:ext>
            </a:extLst>
          </p:cNvPr>
          <p:cNvSpPr/>
          <p:nvPr/>
        </p:nvSpPr>
        <p:spPr>
          <a:xfrm>
            <a:off x="5261987" y="1645030"/>
            <a:ext cx="1514240" cy="589227"/>
          </a:xfrm>
          <a:prstGeom prst="round2SameRect">
            <a:avLst>
              <a:gd name="adj1" fmla="val 33240"/>
              <a:gd name="adj2" fmla="val 0"/>
            </a:avLst>
          </a:prstGeom>
          <a:solidFill>
            <a:schemeClr val="accent3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hangingPunct="0"/>
            <a:endParaRPr lang="en-US" sz="900" dirty="0">
              <a:latin typeface="Poppins" panose="00000500000000000000" pitchFamily="2" charset="0"/>
              <a:ea typeface="Microsoft YaHei" pitchFamily="2"/>
              <a:cs typeface="Lucida Sans" pitchFamily="2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36062E81-E2B7-E195-BD96-B29D650B0A3D}"/>
              </a:ext>
            </a:extLst>
          </p:cNvPr>
          <p:cNvSpPr/>
          <p:nvPr/>
        </p:nvSpPr>
        <p:spPr>
          <a:xfrm flipV="1">
            <a:off x="1112653" y="1998949"/>
            <a:ext cx="1514240" cy="1931415"/>
          </a:xfrm>
          <a:prstGeom prst="round2SameRect">
            <a:avLst>
              <a:gd name="adj1" fmla="val 12347"/>
              <a:gd name="adj2" fmla="val 0"/>
            </a:avLst>
          </a:prstGeom>
          <a:solidFill>
            <a:schemeClr val="accent6">
              <a:alpha val="20000"/>
            </a:schemeClr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hangingPunct="0"/>
            <a:endParaRPr lang="en-US" sz="900" dirty="0">
              <a:latin typeface="Poppins" panose="00000500000000000000" pitchFamily="2" charset="0"/>
              <a:ea typeface="Microsoft YaHei" pitchFamily="2"/>
              <a:cs typeface="Lucida Sans" pitchFamily="2"/>
            </a:endParaRP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25D0DD1-F8AC-4B1B-04F0-88057FA657C3}"/>
              </a:ext>
            </a:extLst>
          </p:cNvPr>
          <p:cNvSpPr/>
          <p:nvPr/>
        </p:nvSpPr>
        <p:spPr>
          <a:xfrm flipV="1">
            <a:off x="3188141" y="1993788"/>
            <a:ext cx="1514240" cy="1931415"/>
          </a:xfrm>
          <a:prstGeom prst="round2SameRect">
            <a:avLst>
              <a:gd name="adj1" fmla="val 12347"/>
              <a:gd name="adj2" fmla="val 0"/>
            </a:avLst>
          </a:prstGeom>
          <a:solidFill>
            <a:schemeClr val="accent6">
              <a:alpha val="20000"/>
            </a:schemeClr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hangingPunct="0"/>
            <a:endParaRPr lang="en-US" sz="900" dirty="0">
              <a:latin typeface="Poppins" panose="00000500000000000000" pitchFamily="2" charset="0"/>
              <a:ea typeface="Microsoft YaHei" pitchFamily="2"/>
              <a:cs typeface="Lucida Sans" pitchFamily="2"/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F5698B4A-1B9B-8C75-9854-77DCE62963CF}"/>
              </a:ext>
            </a:extLst>
          </p:cNvPr>
          <p:cNvSpPr/>
          <p:nvPr/>
        </p:nvSpPr>
        <p:spPr>
          <a:xfrm flipV="1">
            <a:off x="5261987" y="1975278"/>
            <a:ext cx="1514240" cy="1931415"/>
          </a:xfrm>
          <a:prstGeom prst="round2SameRect">
            <a:avLst>
              <a:gd name="adj1" fmla="val 12347"/>
              <a:gd name="adj2" fmla="val 0"/>
            </a:avLst>
          </a:prstGeom>
          <a:solidFill>
            <a:schemeClr val="accent6">
              <a:alpha val="20000"/>
            </a:schemeClr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hangingPunct="0"/>
            <a:endParaRPr lang="en-US" sz="900" dirty="0">
              <a:latin typeface="Poppins" panose="00000500000000000000" pitchFamily="2" charset="0"/>
              <a:ea typeface="Microsoft YaHei" pitchFamily="2"/>
              <a:cs typeface="Lucida Sans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2BAC59-A5A3-F54B-F340-9EDBA1BD3677}"/>
              </a:ext>
            </a:extLst>
          </p:cNvPr>
          <p:cNvSpPr txBox="1"/>
          <p:nvPr/>
        </p:nvSpPr>
        <p:spPr>
          <a:xfrm>
            <a:off x="1141350" y="1691931"/>
            <a:ext cx="146656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b="1" spc="-15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 HEALTH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793C3E-F350-872D-FE69-DCE5FC319FA1}"/>
              </a:ext>
            </a:extLst>
          </p:cNvPr>
          <p:cNvSpPr txBox="1"/>
          <p:nvPr/>
        </p:nvSpPr>
        <p:spPr>
          <a:xfrm>
            <a:off x="3216838" y="1596342"/>
            <a:ext cx="146656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b="1" spc="-15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SCHEDULE HEALTH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E54AA0-432B-7CD3-14CE-214FAB107F7F}"/>
              </a:ext>
            </a:extLst>
          </p:cNvPr>
          <p:cNvSpPr txBox="1"/>
          <p:nvPr/>
        </p:nvSpPr>
        <p:spPr>
          <a:xfrm>
            <a:off x="5290684" y="1664475"/>
            <a:ext cx="146656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b="1" spc="-15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BUDGET HEALTH</a:t>
            </a:r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71B15A20-B81F-E372-912A-02679417191E}"/>
              </a:ext>
            </a:extLst>
          </p:cNvPr>
          <p:cNvSpPr/>
          <p:nvPr/>
        </p:nvSpPr>
        <p:spPr>
          <a:xfrm>
            <a:off x="7342231" y="1646305"/>
            <a:ext cx="1514240" cy="589227"/>
          </a:xfrm>
          <a:prstGeom prst="round2SameRect">
            <a:avLst>
              <a:gd name="adj1" fmla="val 33240"/>
              <a:gd name="adj2" fmla="val 0"/>
            </a:avLst>
          </a:pr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hangingPunct="0"/>
            <a:endParaRPr lang="en-US" sz="900" dirty="0">
              <a:latin typeface="Poppins" panose="00000500000000000000" pitchFamily="2" charset="0"/>
              <a:ea typeface="Microsoft YaHei" pitchFamily="2"/>
              <a:cs typeface="Lucida Sans" pitchFamily="2"/>
            </a:endParaRP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E6DAE8BE-A415-BD3E-6DF3-55B7A83AFDF8}"/>
              </a:ext>
            </a:extLst>
          </p:cNvPr>
          <p:cNvSpPr/>
          <p:nvPr/>
        </p:nvSpPr>
        <p:spPr>
          <a:xfrm>
            <a:off x="9415017" y="1658949"/>
            <a:ext cx="1514240" cy="589227"/>
          </a:xfrm>
          <a:prstGeom prst="round2SameRect">
            <a:avLst>
              <a:gd name="adj1" fmla="val 33240"/>
              <a:gd name="adj2" fmla="val 0"/>
            </a:avLst>
          </a:prstGeom>
          <a:solidFill>
            <a:schemeClr val="accent2"/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hangingPunct="0"/>
            <a:endParaRPr lang="en-US" sz="900" dirty="0">
              <a:latin typeface="Poppins" panose="00000500000000000000" pitchFamily="2" charset="0"/>
              <a:ea typeface="Microsoft YaHei" pitchFamily="2"/>
              <a:cs typeface="Lucida Sans" pitchFamily="2"/>
            </a:endParaRP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61426BDE-6FAA-0AC5-F724-1C7D9BFFF17D}"/>
              </a:ext>
            </a:extLst>
          </p:cNvPr>
          <p:cNvSpPr/>
          <p:nvPr/>
        </p:nvSpPr>
        <p:spPr>
          <a:xfrm flipV="1">
            <a:off x="7342231" y="1976554"/>
            <a:ext cx="1514240" cy="1931415"/>
          </a:xfrm>
          <a:prstGeom prst="round2SameRect">
            <a:avLst>
              <a:gd name="adj1" fmla="val 12347"/>
              <a:gd name="adj2" fmla="val 0"/>
            </a:avLst>
          </a:prstGeom>
          <a:solidFill>
            <a:schemeClr val="accent6">
              <a:alpha val="20000"/>
            </a:schemeClr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hangingPunct="0"/>
            <a:endParaRPr lang="en-US" sz="900" dirty="0">
              <a:latin typeface="Poppins" panose="00000500000000000000" pitchFamily="2" charset="0"/>
              <a:ea typeface="Microsoft YaHei" pitchFamily="2"/>
              <a:cs typeface="Lucida Sans" pitchFamily="2"/>
            </a:endParaRP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DCA1E3DE-7D81-8B86-C21F-3361D8CC969F}"/>
              </a:ext>
            </a:extLst>
          </p:cNvPr>
          <p:cNvSpPr/>
          <p:nvPr/>
        </p:nvSpPr>
        <p:spPr>
          <a:xfrm flipV="1">
            <a:off x="9415017" y="1988263"/>
            <a:ext cx="1514240" cy="1931415"/>
          </a:xfrm>
          <a:prstGeom prst="round2SameRect">
            <a:avLst>
              <a:gd name="adj1" fmla="val 12347"/>
              <a:gd name="adj2" fmla="val 0"/>
            </a:avLst>
          </a:prstGeom>
          <a:solidFill>
            <a:schemeClr val="accent6">
              <a:alpha val="20000"/>
            </a:schemeClr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hangingPunct="0"/>
            <a:endParaRPr lang="en-US" sz="900" dirty="0">
              <a:latin typeface="Poppins" panose="00000500000000000000" pitchFamily="2" charset="0"/>
              <a:ea typeface="Microsoft YaHei" pitchFamily="2"/>
              <a:cs typeface="Lucida Sans" pitchFamily="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DA89C1-CDC2-FF7B-9924-AB159DCD180E}"/>
              </a:ext>
            </a:extLst>
          </p:cNvPr>
          <p:cNvSpPr txBox="1"/>
          <p:nvPr/>
        </p:nvSpPr>
        <p:spPr>
          <a:xfrm>
            <a:off x="7370928" y="1577203"/>
            <a:ext cx="146656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b="1" spc="-15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GOVERNANCE HEALTH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EE9AB9-06AB-F307-44FD-29522EC88AB5}"/>
              </a:ext>
            </a:extLst>
          </p:cNvPr>
          <p:cNvSpPr txBox="1"/>
          <p:nvPr/>
        </p:nvSpPr>
        <p:spPr>
          <a:xfrm>
            <a:off x="9443714" y="1683150"/>
            <a:ext cx="146656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b="1" spc="-15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RISKS</a:t>
            </a:r>
          </a:p>
        </p:txBody>
      </p:sp>
      <p:sp>
        <p:nvSpPr>
          <p:cNvPr id="26" name="Rounded Rectangle 40">
            <a:extLst>
              <a:ext uri="{FF2B5EF4-FFF2-40B4-BE49-F238E27FC236}">
                <a16:creationId xmlns:a16="http://schemas.microsoft.com/office/drawing/2014/main" id="{10EF93A0-570D-31B6-066F-8AFC3D01E134}"/>
              </a:ext>
            </a:extLst>
          </p:cNvPr>
          <p:cNvSpPr/>
          <p:nvPr/>
        </p:nvSpPr>
        <p:spPr>
          <a:xfrm>
            <a:off x="542880" y="4458589"/>
            <a:ext cx="53949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40">
            <a:extLst>
              <a:ext uri="{FF2B5EF4-FFF2-40B4-BE49-F238E27FC236}">
                <a16:creationId xmlns:a16="http://schemas.microsoft.com/office/drawing/2014/main" id="{FFE6DFF0-AEE1-FE50-53D6-CEA9EEFF453D}"/>
              </a:ext>
            </a:extLst>
          </p:cNvPr>
          <p:cNvSpPr/>
          <p:nvPr/>
        </p:nvSpPr>
        <p:spPr>
          <a:xfrm>
            <a:off x="6254160" y="4439145"/>
            <a:ext cx="53949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ADE8F6-F956-E6A1-825C-04C282AB5ACF}"/>
              </a:ext>
            </a:extLst>
          </p:cNvPr>
          <p:cNvSpPr txBox="1"/>
          <p:nvPr/>
        </p:nvSpPr>
        <p:spPr>
          <a:xfrm>
            <a:off x="560470" y="4486904"/>
            <a:ext cx="146656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KEY HIGHLIGHTS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349F75-686B-B3BE-BFF0-0EA00B739129}"/>
              </a:ext>
            </a:extLst>
          </p:cNvPr>
          <p:cNvSpPr txBox="1"/>
          <p:nvPr/>
        </p:nvSpPr>
        <p:spPr>
          <a:xfrm>
            <a:off x="6254160" y="4500804"/>
            <a:ext cx="146656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b="1" spc="-15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KEY STATISTICS</a:t>
            </a:r>
          </a:p>
        </p:txBody>
      </p:sp>
    </p:spTree>
    <p:extLst>
      <p:ext uri="{BB962C8B-B14F-4D97-AF65-F5344CB8AC3E}">
        <p14:creationId xmlns:p14="http://schemas.microsoft.com/office/powerpoint/2010/main" val="674720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A61D5B3-D05B-2945-B0B3-F1C0D1AAAE1F}"/>
              </a:ext>
            </a:extLst>
          </p:cNvPr>
          <p:cNvSpPr/>
          <p:nvPr/>
        </p:nvSpPr>
        <p:spPr>
          <a:xfrm>
            <a:off x="1588" y="1828800"/>
            <a:ext cx="12188825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A363704-37D5-3747-8089-E0F6843D31B3}"/>
              </a:ext>
            </a:extLst>
          </p:cNvPr>
          <p:cNvCxnSpPr/>
          <p:nvPr/>
        </p:nvCxnSpPr>
        <p:spPr>
          <a:xfrm>
            <a:off x="1995488" y="3282801"/>
            <a:ext cx="8201025" cy="0"/>
          </a:xfrm>
          <a:prstGeom prst="line">
            <a:avLst/>
          </a:prstGeom>
          <a:ln w="38100">
            <a:gradFill>
              <a:gsLst>
                <a:gs pos="25000">
                  <a:schemeClr val="accent2"/>
                </a:gs>
                <a:gs pos="0">
                  <a:schemeClr val="accent1"/>
                </a:gs>
                <a:gs pos="50000">
                  <a:schemeClr val="accent3"/>
                </a:gs>
                <a:gs pos="75000">
                  <a:schemeClr val="accent4"/>
                </a:gs>
                <a:gs pos="100000">
                  <a:schemeClr val="accent5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F736E9F-099F-6E49-8413-5352C763CACD}"/>
              </a:ext>
            </a:extLst>
          </p:cNvPr>
          <p:cNvSpPr txBox="1"/>
          <p:nvPr/>
        </p:nvSpPr>
        <p:spPr>
          <a:xfrm>
            <a:off x="4103798" y="306186"/>
            <a:ext cx="3984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PROJECT PROGRESS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33F3FF-B79E-BE40-B783-ADB5618202DD}"/>
              </a:ext>
            </a:extLst>
          </p:cNvPr>
          <p:cNvSpPr txBox="1"/>
          <p:nvPr/>
        </p:nvSpPr>
        <p:spPr>
          <a:xfrm>
            <a:off x="4813438" y="787593"/>
            <a:ext cx="2565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50" dirty="0">
                <a:solidFill>
                  <a:schemeClr val="bg1">
                    <a:lumMod val="65000"/>
                  </a:schemeClr>
                </a:solidFill>
                <a:latin typeface="Poppins Light" pitchFamily="2" charset="77"/>
                <a:cs typeface="Poppins Light" pitchFamily="2" charset="77"/>
              </a:rPr>
              <a:t>WRITE YOUR SUBTITLE HERE</a:t>
            </a: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9213BC01-FA8B-CF48-AC87-A1FAA8BDD0F1}"/>
              </a:ext>
            </a:extLst>
          </p:cNvPr>
          <p:cNvSpPr/>
          <p:nvPr/>
        </p:nvSpPr>
        <p:spPr>
          <a:xfrm rot="5400000">
            <a:off x="1494600" y="2851001"/>
            <a:ext cx="1001776" cy="863600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4D3196C5-662E-B844-A3CC-FCAE29081D54}"/>
              </a:ext>
            </a:extLst>
          </p:cNvPr>
          <p:cNvSpPr/>
          <p:nvPr/>
        </p:nvSpPr>
        <p:spPr>
          <a:xfrm rot="5400000">
            <a:off x="5595112" y="2851001"/>
            <a:ext cx="1001776" cy="863600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78151ADC-DD2F-5444-9A45-608DB7222623}"/>
              </a:ext>
            </a:extLst>
          </p:cNvPr>
          <p:cNvSpPr/>
          <p:nvPr/>
        </p:nvSpPr>
        <p:spPr>
          <a:xfrm rot="5400000">
            <a:off x="3544856" y="2851001"/>
            <a:ext cx="1001776" cy="863600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22DCEE99-613F-A443-88B1-8B5D7D5BBA59}"/>
              </a:ext>
            </a:extLst>
          </p:cNvPr>
          <p:cNvSpPr/>
          <p:nvPr/>
        </p:nvSpPr>
        <p:spPr>
          <a:xfrm rot="5400000">
            <a:off x="9695625" y="2851001"/>
            <a:ext cx="1001776" cy="863600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10205845-B182-B84A-ACF6-3C68E2EA0B8E}"/>
              </a:ext>
            </a:extLst>
          </p:cNvPr>
          <p:cNvSpPr/>
          <p:nvPr/>
        </p:nvSpPr>
        <p:spPr>
          <a:xfrm rot="5400000">
            <a:off x="7645369" y="2851001"/>
            <a:ext cx="1001776" cy="8636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79B7B4-7A2F-F141-9B3E-3F8A03467F9C}"/>
              </a:ext>
            </a:extLst>
          </p:cNvPr>
          <p:cNvSpPr txBox="1"/>
          <p:nvPr/>
        </p:nvSpPr>
        <p:spPr>
          <a:xfrm>
            <a:off x="1831020" y="3005802"/>
            <a:ext cx="328937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0D0813-8C26-444B-8E09-2B2AAE059DD9}"/>
              </a:ext>
            </a:extLst>
          </p:cNvPr>
          <p:cNvSpPr txBox="1"/>
          <p:nvPr/>
        </p:nvSpPr>
        <p:spPr>
          <a:xfrm>
            <a:off x="3843605" y="3005802"/>
            <a:ext cx="404278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B7B62C-6AF3-D944-BF1C-09F941E370A9}"/>
              </a:ext>
            </a:extLst>
          </p:cNvPr>
          <p:cNvSpPr txBox="1"/>
          <p:nvPr/>
        </p:nvSpPr>
        <p:spPr>
          <a:xfrm>
            <a:off x="5887449" y="3005802"/>
            <a:ext cx="417102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128D0E-BEC0-2648-BF1A-A24FA541C58C}"/>
              </a:ext>
            </a:extLst>
          </p:cNvPr>
          <p:cNvSpPr txBox="1"/>
          <p:nvPr/>
        </p:nvSpPr>
        <p:spPr>
          <a:xfrm>
            <a:off x="7924081" y="3005802"/>
            <a:ext cx="444353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26DB55-32E0-0446-A511-242168AAF874}"/>
              </a:ext>
            </a:extLst>
          </p:cNvPr>
          <p:cNvSpPr txBox="1"/>
          <p:nvPr/>
        </p:nvSpPr>
        <p:spPr>
          <a:xfrm>
            <a:off x="9979145" y="3005802"/>
            <a:ext cx="434735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5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72E692D1-5BD3-0F45-8F01-C8E1444A8579}"/>
              </a:ext>
            </a:extLst>
          </p:cNvPr>
          <p:cNvSpPr/>
          <p:nvPr/>
        </p:nvSpPr>
        <p:spPr>
          <a:xfrm>
            <a:off x="1240248" y="4339953"/>
            <a:ext cx="157397" cy="157397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7D04E8-B8E6-DE40-BA21-D1CA03C33ECE}"/>
              </a:ext>
            </a:extLst>
          </p:cNvPr>
          <p:cNvSpPr txBox="1"/>
          <p:nvPr/>
        </p:nvSpPr>
        <p:spPr>
          <a:xfrm>
            <a:off x="1515934" y="4295028"/>
            <a:ext cx="1234791" cy="2982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Project charter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DAFA80-EE81-7649-91F3-1B6FC33AE927}"/>
              </a:ext>
            </a:extLst>
          </p:cNvPr>
          <p:cNvSpPr txBox="1"/>
          <p:nvPr/>
        </p:nvSpPr>
        <p:spPr>
          <a:xfrm>
            <a:off x="1349318" y="2270357"/>
            <a:ext cx="1292341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INITIATION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AB7B32-A284-6C40-8B0D-C8AE7673F684}"/>
              </a:ext>
            </a:extLst>
          </p:cNvPr>
          <p:cNvSpPr txBox="1"/>
          <p:nvPr/>
        </p:nvSpPr>
        <p:spPr>
          <a:xfrm>
            <a:off x="3425222" y="2270357"/>
            <a:ext cx="1241045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PLANNING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0F7616-8806-C64F-9694-66029017BABD}"/>
              </a:ext>
            </a:extLst>
          </p:cNvPr>
          <p:cNvSpPr txBox="1"/>
          <p:nvPr/>
        </p:nvSpPr>
        <p:spPr>
          <a:xfrm>
            <a:off x="5419373" y="2270357"/>
            <a:ext cx="1353256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EXECUTION	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B6B9C3-EEAE-C64A-8BF7-405101975954}"/>
              </a:ext>
            </a:extLst>
          </p:cNvPr>
          <p:cNvSpPr txBox="1"/>
          <p:nvPr/>
        </p:nvSpPr>
        <p:spPr>
          <a:xfrm>
            <a:off x="7560199" y="2270357"/>
            <a:ext cx="1172117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CONTROL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342F45-0BA3-8942-9368-4C93E0308428}"/>
              </a:ext>
            </a:extLst>
          </p:cNvPr>
          <p:cNvSpPr txBox="1"/>
          <p:nvPr/>
        </p:nvSpPr>
        <p:spPr>
          <a:xfrm>
            <a:off x="9638507" y="2270357"/>
            <a:ext cx="1116011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CLOSURE</a:t>
            </a:r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AB1985C1-44F8-1541-8A7F-4BF8383AC9E9}"/>
              </a:ext>
            </a:extLst>
          </p:cNvPr>
          <p:cNvSpPr/>
          <p:nvPr/>
        </p:nvSpPr>
        <p:spPr>
          <a:xfrm>
            <a:off x="9441274" y="4339953"/>
            <a:ext cx="157397" cy="157397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9492C5-1BD5-9F4F-A9CD-43BB0D232D0F}"/>
              </a:ext>
            </a:extLst>
          </p:cNvPr>
          <p:cNvSpPr txBox="1"/>
          <p:nvPr/>
        </p:nvSpPr>
        <p:spPr>
          <a:xfrm>
            <a:off x="9716959" y="4295028"/>
            <a:ext cx="1234791" cy="2982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Project analysis</a:t>
            </a:r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C0D82DCF-E306-C14B-80DE-FC1CD40333DB}"/>
              </a:ext>
            </a:extLst>
          </p:cNvPr>
          <p:cNvSpPr/>
          <p:nvPr/>
        </p:nvSpPr>
        <p:spPr>
          <a:xfrm>
            <a:off x="9441274" y="4842687"/>
            <a:ext cx="157397" cy="157397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6A5F5D-7CA6-CE42-B133-869F2D779A3A}"/>
              </a:ext>
            </a:extLst>
          </p:cNvPr>
          <p:cNvSpPr txBox="1"/>
          <p:nvPr/>
        </p:nvSpPr>
        <p:spPr>
          <a:xfrm>
            <a:off x="9716960" y="4797762"/>
            <a:ext cx="1234790" cy="2982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Project report</a:t>
            </a:r>
          </a:p>
        </p:txBody>
      </p:sp>
      <p:sp>
        <p:nvSpPr>
          <p:cNvPr id="27" name="Diamond 26">
            <a:extLst>
              <a:ext uri="{FF2B5EF4-FFF2-40B4-BE49-F238E27FC236}">
                <a16:creationId xmlns:a16="http://schemas.microsoft.com/office/drawing/2014/main" id="{F868EFF9-20C5-C347-A27F-6298D277CD14}"/>
              </a:ext>
            </a:extLst>
          </p:cNvPr>
          <p:cNvSpPr/>
          <p:nvPr/>
        </p:nvSpPr>
        <p:spPr>
          <a:xfrm>
            <a:off x="3290505" y="4339953"/>
            <a:ext cx="157397" cy="157397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CE777B-E14C-7744-B53C-306B390B4D5C}"/>
              </a:ext>
            </a:extLst>
          </p:cNvPr>
          <p:cNvSpPr txBox="1"/>
          <p:nvPr/>
        </p:nvSpPr>
        <p:spPr>
          <a:xfrm>
            <a:off x="3566191" y="4295028"/>
            <a:ext cx="1234792" cy="5290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Project scope statement</a:t>
            </a:r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89CDC487-DB64-214B-B99D-E87C993FE3B2}"/>
              </a:ext>
            </a:extLst>
          </p:cNvPr>
          <p:cNvSpPr/>
          <p:nvPr/>
        </p:nvSpPr>
        <p:spPr>
          <a:xfrm>
            <a:off x="3290505" y="4842687"/>
            <a:ext cx="157397" cy="157397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CF35C0-5D1D-A34E-8CA1-3118697612F4}"/>
              </a:ext>
            </a:extLst>
          </p:cNvPr>
          <p:cNvSpPr txBox="1"/>
          <p:nvPr/>
        </p:nvSpPr>
        <p:spPr>
          <a:xfrm>
            <a:off x="3566191" y="4797762"/>
            <a:ext cx="1234792" cy="7598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Work breakdown structure</a:t>
            </a:r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B7A6EF8C-C147-3B4A-825E-75204C116880}"/>
              </a:ext>
            </a:extLst>
          </p:cNvPr>
          <p:cNvSpPr/>
          <p:nvPr/>
        </p:nvSpPr>
        <p:spPr>
          <a:xfrm>
            <a:off x="3290505" y="5368287"/>
            <a:ext cx="157397" cy="157397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2D6914-787B-9E46-973F-F745A37DC97D}"/>
              </a:ext>
            </a:extLst>
          </p:cNvPr>
          <p:cNvSpPr txBox="1"/>
          <p:nvPr/>
        </p:nvSpPr>
        <p:spPr>
          <a:xfrm>
            <a:off x="3566191" y="5323362"/>
            <a:ext cx="1234792" cy="2982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Gantt chart</a:t>
            </a: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AFADB74B-0B36-0E4B-BB35-CB87042D4442}"/>
              </a:ext>
            </a:extLst>
          </p:cNvPr>
          <p:cNvSpPr/>
          <p:nvPr/>
        </p:nvSpPr>
        <p:spPr>
          <a:xfrm>
            <a:off x="5340762" y="4339953"/>
            <a:ext cx="157397" cy="157397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739DA2-11D7-654A-B91D-A828C97B033F}"/>
              </a:ext>
            </a:extLst>
          </p:cNvPr>
          <p:cNvSpPr txBox="1"/>
          <p:nvPr/>
        </p:nvSpPr>
        <p:spPr>
          <a:xfrm>
            <a:off x="5616447" y="4295028"/>
            <a:ext cx="1234791" cy="2982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Forecasts</a:t>
            </a:r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76C6729F-E42B-F44E-AD47-84FC2F500383}"/>
              </a:ext>
            </a:extLst>
          </p:cNvPr>
          <p:cNvSpPr/>
          <p:nvPr/>
        </p:nvSpPr>
        <p:spPr>
          <a:xfrm>
            <a:off x="5340762" y="4842687"/>
            <a:ext cx="157397" cy="157397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03CC7C-1ECA-5F4D-95C7-A5C118CA2EAB}"/>
              </a:ext>
            </a:extLst>
          </p:cNvPr>
          <p:cNvSpPr txBox="1"/>
          <p:nvPr/>
        </p:nvSpPr>
        <p:spPr>
          <a:xfrm>
            <a:off x="5616447" y="4797762"/>
            <a:ext cx="1234791" cy="2982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Project status</a:t>
            </a:r>
          </a:p>
        </p:txBody>
      </p:sp>
      <p:sp>
        <p:nvSpPr>
          <p:cNvPr id="59" name="Diamond 58">
            <a:extLst>
              <a:ext uri="{FF2B5EF4-FFF2-40B4-BE49-F238E27FC236}">
                <a16:creationId xmlns:a16="http://schemas.microsoft.com/office/drawing/2014/main" id="{3B7BB359-1B4A-3947-9D2B-B3169BC2A643}"/>
              </a:ext>
            </a:extLst>
          </p:cNvPr>
          <p:cNvSpPr/>
          <p:nvPr/>
        </p:nvSpPr>
        <p:spPr>
          <a:xfrm>
            <a:off x="5340762" y="5368287"/>
            <a:ext cx="157397" cy="157397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52A31F8-1679-5A44-9B61-A6D71F395D48}"/>
              </a:ext>
            </a:extLst>
          </p:cNvPr>
          <p:cNvSpPr txBox="1"/>
          <p:nvPr/>
        </p:nvSpPr>
        <p:spPr>
          <a:xfrm>
            <a:off x="5616447" y="5323362"/>
            <a:ext cx="1234790" cy="5290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Progress tracking</a:t>
            </a: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0766B1B9-5F6B-2844-A8C4-6A3EDFAFB454}"/>
              </a:ext>
            </a:extLst>
          </p:cNvPr>
          <p:cNvSpPr/>
          <p:nvPr/>
        </p:nvSpPr>
        <p:spPr>
          <a:xfrm>
            <a:off x="7391018" y="4339953"/>
            <a:ext cx="157397" cy="157397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BC863A-5146-4F40-A798-D5D8B8E8CC96}"/>
              </a:ext>
            </a:extLst>
          </p:cNvPr>
          <p:cNvSpPr txBox="1"/>
          <p:nvPr/>
        </p:nvSpPr>
        <p:spPr>
          <a:xfrm>
            <a:off x="7666703" y="4295028"/>
            <a:ext cx="1234791" cy="5290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Activity tracking</a:t>
            </a:r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AD434CD2-C5BA-1848-A0ED-CCEB27375297}"/>
              </a:ext>
            </a:extLst>
          </p:cNvPr>
          <p:cNvSpPr/>
          <p:nvPr/>
        </p:nvSpPr>
        <p:spPr>
          <a:xfrm>
            <a:off x="7391018" y="4842687"/>
            <a:ext cx="157397" cy="157397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FFCBFB-A0BB-4D45-B2B4-8B7F86D7515E}"/>
              </a:ext>
            </a:extLst>
          </p:cNvPr>
          <p:cNvSpPr txBox="1"/>
          <p:nvPr/>
        </p:nvSpPr>
        <p:spPr>
          <a:xfrm>
            <a:off x="7666704" y="4797762"/>
            <a:ext cx="1234790" cy="2982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Goal tracking</a:t>
            </a:r>
          </a:p>
        </p:txBody>
      </p:sp>
      <p:sp>
        <p:nvSpPr>
          <p:cNvPr id="62" name="Diamond 61">
            <a:extLst>
              <a:ext uri="{FF2B5EF4-FFF2-40B4-BE49-F238E27FC236}">
                <a16:creationId xmlns:a16="http://schemas.microsoft.com/office/drawing/2014/main" id="{E9F8DF9A-38E4-E845-8008-8D061C6DA382}"/>
              </a:ext>
            </a:extLst>
          </p:cNvPr>
          <p:cNvSpPr/>
          <p:nvPr/>
        </p:nvSpPr>
        <p:spPr>
          <a:xfrm>
            <a:off x="7391018" y="5368287"/>
            <a:ext cx="157397" cy="157397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FD7195-8D9A-994F-9FBF-988C0822AD4B}"/>
              </a:ext>
            </a:extLst>
          </p:cNvPr>
          <p:cNvSpPr txBox="1"/>
          <p:nvPr/>
        </p:nvSpPr>
        <p:spPr>
          <a:xfrm>
            <a:off x="7666703" y="5323362"/>
            <a:ext cx="1234790" cy="2982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Budget tracking</a:t>
            </a:r>
          </a:p>
        </p:txBody>
      </p:sp>
    </p:spTree>
    <p:extLst>
      <p:ext uri="{BB962C8B-B14F-4D97-AF65-F5344CB8AC3E}">
        <p14:creationId xmlns:p14="http://schemas.microsoft.com/office/powerpoint/2010/main" val="187938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0891B2"/>
                </a:solidFill>
                <a:latin typeface="Aptos"/>
              </a:rPr>
              <a:t>WEEKLY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498079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Delivery Progress &amp; Forward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78638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Capture what changed this week, current blockers, and the next actions needed to maintain delivery momentum.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502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Achievements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12848"/>
            <a:ext cx="685800" cy="3657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Completed [milestone / deliverable]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Progressed [workstream activity]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Secured agreement on [decision]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Improved [metric / delivery signal]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874519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Challenges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2212848"/>
            <a:ext cx="685800" cy="365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[Challenge / blocker]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[Dependency / resourcing concern]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[Scope / timeline pressure]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[Decision delay / issue]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874519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Next Steps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212848"/>
            <a:ext cx="685800" cy="3657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4688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[Action and owner]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[Upcoming milestone]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[Governance activity]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• [Decision or review forum]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46320"/>
            <a:ext cx="1120140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5029200"/>
            <a:ext cx="3200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Delivery Focus for Next Reporting Period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394960"/>
            <a:ext cx="347472" cy="347472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468112"/>
            <a:ext cx="347472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367528"/>
            <a:ext cx="15544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Priority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596128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0" b="0">
                <a:solidFill>
                  <a:srgbClr val="475569"/>
                </a:solidFill>
                <a:latin typeface="Aptos"/>
              </a:rPr>
              <a:t>Description of the highest priority outcome this week.</a:t>
            </a:r>
          </a:p>
        </p:txBody>
      </p:sp>
      <p:sp>
        <p:nvSpPr>
          <p:cNvPr id="24" name="Oval 23"/>
          <p:cNvSpPr/>
          <p:nvPr/>
        </p:nvSpPr>
        <p:spPr>
          <a:xfrm>
            <a:off x="4434840" y="5394960"/>
            <a:ext cx="347472" cy="347472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4840" y="5468112"/>
            <a:ext cx="347472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5367528"/>
            <a:ext cx="15544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Critical Dependency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5596128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0" b="0">
                <a:solidFill>
                  <a:srgbClr val="475569"/>
                </a:solidFill>
                <a:latin typeface="Aptos"/>
              </a:rPr>
              <a:t>Dependency or decision needed to protect timeline.</a:t>
            </a:r>
          </a:p>
        </p:txBody>
      </p:sp>
      <p:sp>
        <p:nvSpPr>
          <p:cNvPr id="28" name="Oval 27"/>
          <p:cNvSpPr/>
          <p:nvPr/>
        </p:nvSpPr>
        <p:spPr>
          <a:xfrm>
            <a:off x="8001000" y="5394960"/>
            <a:ext cx="347472" cy="347472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01000" y="5468112"/>
            <a:ext cx="347472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5367528"/>
            <a:ext cx="15544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Aptos"/>
              </a:rPr>
              <a:t>Governance Focus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614416"/>
            <a:ext cx="2560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0" b="0">
                <a:solidFill>
                  <a:srgbClr val="475569"/>
                </a:solidFill>
                <a:latin typeface="Aptos"/>
              </a:rPr>
              <a:t>Reporting, control, assurance or stakeholder engagement activity.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Nina Hesse | Executive PMO Reporting Template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336792"/>
            <a:ext cx="11183112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0891B2"/>
                </a:solidFill>
                <a:latin typeface="Aptos"/>
              </a:rPr>
              <a:t>RAID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7498079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Risks, Issues, Dependencies &amp;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78638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Summarise active governance items requiring management attention or escalation.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502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514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609344"/>
            <a:ext cx="222199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30" b="1">
                <a:solidFill>
                  <a:srgbClr val="64748B"/>
                </a:solidFill>
                <a:latin typeface="Aptos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847088"/>
            <a:ext cx="2221992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  <a:latin typeface="Aptos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" y="2139696"/>
            <a:ext cx="2221992" cy="274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55848" y="1463040"/>
            <a:ext cx="2514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1609344"/>
            <a:ext cx="222199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30" b="1">
                <a:solidFill>
                  <a:srgbClr val="64748B"/>
                </a:solidFill>
                <a:latin typeface="Aptos"/>
              </a:rPr>
              <a:t>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1847088"/>
            <a:ext cx="2221992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Aptos"/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2152" y="2139696"/>
            <a:ext cx="2221992" cy="274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08776" y="1463040"/>
            <a:ext cx="2514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609344"/>
            <a:ext cx="222199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30" b="1">
                <a:solidFill>
                  <a:srgbClr val="64748B"/>
                </a:solidFill>
                <a:latin typeface="Aptos"/>
              </a:rPr>
              <a:t>ASSUMPTIONS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47088"/>
            <a:ext cx="2221992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891B2"/>
                </a:solidFill>
                <a:latin typeface="Aptos"/>
              </a:rPr>
              <a:t>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139696"/>
            <a:ext cx="2221992" cy="2743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61704" y="1463040"/>
            <a:ext cx="2514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08008" y="1609344"/>
            <a:ext cx="2221992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30" b="1">
                <a:solidFill>
                  <a:srgbClr val="64748B"/>
                </a:solidFill>
                <a:latin typeface="Aptos"/>
              </a:rPr>
              <a:t>DEPENDENCIES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1847088"/>
            <a:ext cx="2221992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ptos"/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08008" y="2139696"/>
            <a:ext cx="2221992" cy="274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2920" y="2578608"/>
            <a:ext cx="6446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2788920"/>
            <a:ext cx="201168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Top Risks / Issues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154680"/>
            <a:ext cx="8229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154680"/>
            <a:ext cx="8229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Owner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7168" y="3154680"/>
            <a:ext cx="8229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154680"/>
            <a:ext cx="8229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3154680"/>
            <a:ext cx="23774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Description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685031"/>
            <a:ext cx="571500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3456432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[Risk]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3456432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[Owner]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3456432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[RAG]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3456432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[Date]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39" y="3456432"/>
            <a:ext cx="228600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[Description]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" y="3977639"/>
            <a:ext cx="571500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9808" y="3749039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[Risk]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3749039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[Owner]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87168" y="3749039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[RAG]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3749039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[Date]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39" y="3749039"/>
            <a:ext cx="228600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[Description]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270248"/>
            <a:ext cx="571500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9808" y="4041648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[Risk]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4041648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[Owner]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4041648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[RAG]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4041648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[Date]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7639" y="4041648"/>
            <a:ext cx="228600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[Description]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8" y="4562856"/>
            <a:ext cx="571500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9808" y="4334256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[Risk]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00200" y="4334256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[Owner]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87168" y="4334256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[RAG]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46120" y="4334256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[Date]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77639" y="4334256"/>
            <a:ext cx="228600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[Description]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23760" y="2578608"/>
            <a:ext cx="4480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52360" y="2788920"/>
            <a:ext cx="219456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Decisions Required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2360" y="3154680"/>
            <a:ext cx="7772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Decision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8200" y="3154680"/>
            <a:ext cx="7772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Owner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3154680"/>
            <a:ext cx="7772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Forum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21240" y="3154680"/>
            <a:ext cx="7772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By When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44200" y="3154680"/>
            <a:ext cx="7772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Status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52360" y="3685031"/>
            <a:ext cx="3749039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52360" y="3456432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[Decision]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8200" y="3456432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[Owner]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9720" y="3456432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[Forum]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21240" y="3456432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[Date]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44200" y="3456432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[Status]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52360" y="3977639"/>
            <a:ext cx="3749039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52360" y="3749039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[Decision]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3749039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[Owner]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89720" y="3749039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[Forum]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21240" y="3749039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[Date]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44200" y="3749039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[Status]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52360" y="4270248"/>
            <a:ext cx="3749039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52360" y="4041648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[Decision]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58200" y="4041648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[Owner]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89720" y="4041648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[Forum]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21240" y="4041648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[Date]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744200" y="4041648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[Status]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52360" y="4562856"/>
            <a:ext cx="3749039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452360" y="4334256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[Decision]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58200" y="4334256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[Owner]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89720" y="4334256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[Forum]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21240" y="4334256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[Date]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44200" y="4334256"/>
            <a:ext cx="731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ptos"/>
              </a:rPr>
              <a:t>[Status]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02920" y="5074920"/>
            <a:ext cx="11201400" cy="749808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94360" y="5065775"/>
            <a:ext cx="20116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Aptos"/>
              </a:rPr>
              <a:t>Governance Commentary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360" y="5358383"/>
            <a:ext cx="84124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19" b="0" dirty="0">
                <a:solidFill>
                  <a:srgbClr val="475569"/>
                </a:solidFill>
                <a:latin typeface="Aptos"/>
              </a:rPr>
              <a:t>Use this space to explain material changes to </a:t>
            </a:r>
            <a:r>
              <a:rPr sz="919" b="0" dirty="0" err="1">
                <a:solidFill>
                  <a:srgbClr val="475569"/>
                </a:solidFill>
                <a:latin typeface="Aptos"/>
              </a:rPr>
              <a:t>programme</a:t>
            </a:r>
            <a:r>
              <a:rPr sz="919" b="0" dirty="0">
                <a:solidFill>
                  <a:srgbClr val="475569"/>
                </a:solidFill>
                <a:latin typeface="Aptos"/>
              </a:rPr>
              <a:t> health, emerging risks, dependency movement, and sponsor interventions required before the next reporting cycle.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Nina Hesse | Executive PMO Reporting Template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02920" y="6336792"/>
            <a:ext cx="11183112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0891B2"/>
                </a:solidFill>
                <a:latin typeface="Aptos"/>
              </a:rPr>
              <a:t>PLAN ON A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3591561" cy="46166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 dirty="0">
                <a:solidFill>
                  <a:srgbClr val="0F172A"/>
                </a:solidFill>
                <a:latin typeface="Aptos"/>
              </a:rPr>
              <a:t>P</a:t>
            </a:r>
            <a:r>
              <a:rPr lang="en-GB" sz="2400" b="1" dirty="0">
                <a:solidFill>
                  <a:srgbClr val="0F172A"/>
                </a:solidFill>
                <a:latin typeface="Aptos"/>
              </a:rPr>
              <a:t>ROGRAMME ROADMAP</a:t>
            </a:r>
            <a:endParaRPr sz="2400" b="1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78638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A visual one-page plan showing phases, milestones and governance checkpoints across the reporting period.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502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12014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Jan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5641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Feb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645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9842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Mar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1846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4043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Apr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6047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8244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May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0248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445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Jun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449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6646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Jul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650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0847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Aug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2851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5048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Sep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7052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9249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Oct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1253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3450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Nov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5454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76510" y="1965960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Dec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96550" y="2240280"/>
            <a:ext cx="9144" cy="2880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6414" y="1609344"/>
            <a:ext cx="2743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 dirty="0">
                <a:solidFill>
                  <a:srgbClr val="0F172A"/>
                </a:solidFill>
                <a:latin typeface="Aptos"/>
              </a:rPr>
              <a:t>Governance / </a:t>
            </a:r>
            <a:r>
              <a:rPr sz="900" b="1" dirty="0" err="1">
                <a:solidFill>
                  <a:srgbClr val="0F172A"/>
                </a:solidFill>
                <a:latin typeface="Aptos"/>
              </a:rPr>
              <a:t>Programme</a:t>
            </a:r>
            <a:r>
              <a:rPr sz="900" b="1" dirty="0">
                <a:solidFill>
                  <a:srgbClr val="0F172A"/>
                </a:solidFill>
                <a:latin typeface="Aptos"/>
              </a:rPr>
              <a:t> &amp; Project Management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2615184"/>
            <a:ext cx="7955279" cy="4572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60120" y="3063240"/>
            <a:ext cx="1965960" cy="30175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3136392"/>
            <a:ext cx="1965960" cy="91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Phase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71800" y="3493008"/>
            <a:ext cx="2148840" cy="301752"/>
          </a:xfrm>
          <a:prstGeom prst="round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71800" y="3566160"/>
            <a:ext cx="2148840" cy="91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Phase 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66360" y="3922776"/>
            <a:ext cx="2331720" cy="30175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66360" y="3995928"/>
            <a:ext cx="2331720" cy="91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Phase 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43800" y="4352544"/>
            <a:ext cx="2514600" cy="30175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43800" y="4425696"/>
            <a:ext cx="2514600" cy="91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Phase 4</a:t>
            </a:r>
          </a:p>
        </p:txBody>
      </p:sp>
      <p:sp>
        <p:nvSpPr>
          <p:cNvPr id="41" name="Diamond 40"/>
          <p:cNvSpPr/>
          <p:nvPr/>
        </p:nvSpPr>
        <p:spPr>
          <a:xfrm>
            <a:off x="2834640" y="2816352"/>
            <a:ext cx="292608" cy="292608"/>
          </a:xfrm>
          <a:prstGeom prst="diamond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514600" y="3163824"/>
            <a:ext cx="91440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60" b="0">
                <a:solidFill>
                  <a:srgbClr val="475569"/>
                </a:solidFill>
                <a:latin typeface="Aptos"/>
              </a:rPr>
              <a:t>Gate 1</a:t>
            </a:r>
          </a:p>
        </p:txBody>
      </p:sp>
      <p:sp>
        <p:nvSpPr>
          <p:cNvPr id="43" name="Diamond 42"/>
          <p:cNvSpPr/>
          <p:nvPr/>
        </p:nvSpPr>
        <p:spPr>
          <a:xfrm>
            <a:off x="5074920" y="3236976"/>
            <a:ext cx="292608" cy="292608"/>
          </a:xfrm>
          <a:prstGeom prst="diamond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54880" y="3584448"/>
            <a:ext cx="91440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60" b="0">
                <a:solidFill>
                  <a:srgbClr val="475569"/>
                </a:solidFill>
                <a:latin typeface="Aptos"/>
              </a:rPr>
              <a:t>MVP</a:t>
            </a:r>
          </a:p>
        </p:txBody>
      </p:sp>
      <p:sp>
        <p:nvSpPr>
          <p:cNvPr id="45" name="Diamond 44"/>
          <p:cNvSpPr/>
          <p:nvPr/>
        </p:nvSpPr>
        <p:spPr>
          <a:xfrm>
            <a:off x="7360920" y="3657600"/>
            <a:ext cx="292608" cy="292608"/>
          </a:xfrm>
          <a:prstGeom prst="diamond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40880" y="4005072"/>
            <a:ext cx="91440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60" b="0">
                <a:solidFill>
                  <a:srgbClr val="475569"/>
                </a:solidFill>
                <a:latin typeface="Aptos"/>
              </a:rPr>
              <a:t>Go / No-Go</a:t>
            </a:r>
          </a:p>
        </p:txBody>
      </p:sp>
      <p:sp>
        <p:nvSpPr>
          <p:cNvPr id="47" name="Diamond 46"/>
          <p:cNvSpPr/>
          <p:nvPr/>
        </p:nvSpPr>
        <p:spPr>
          <a:xfrm>
            <a:off x="10012680" y="4087368"/>
            <a:ext cx="292608" cy="292608"/>
          </a:xfrm>
          <a:prstGeom prst="diamond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92640" y="4434840"/>
            <a:ext cx="91440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60" b="0">
                <a:solidFill>
                  <a:srgbClr val="475569"/>
                </a:solidFill>
                <a:latin typeface="Aptos"/>
              </a:rPr>
              <a:t>Release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9808" y="5321808"/>
            <a:ext cx="1069848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5404104"/>
            <a:ext cx="10241280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Legend: phases = delivery workstreams | diamonds = decision gates / milestones | use colour to indicate ownership, RAG or delivery confidence.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Nina Hesse | Executive PMO Reporting Template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6336792"/>
            <a:ext cx="11183112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7A3BE4-ADD7-9243-8E6A-8539315F6753}"/>
              </a:ext>
            </a:extLst>
          </p:cNvPr>
          <p:cNvSpPr/>
          <p:nvPr/>
        </p:nvSpPr>
        <p:spPr>
          <a:xfrm>
            <a:off x="762000" y="381000"/>
            <a:ext cx="2805748" cy="3371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B488A2-08D6-704A-A55D-FEBF96FF2C51}"/>
              </a:ext>
            </a:extLst>
          </p:cNvPr>
          <p:cNvSpPr/>
          <p:nvPr/>
        </p:nvSpPr>
        <p:spPr>
          <a:xfrm>
            <a:off x="3766457" y="381000"/>
            <a:ext cx="4660674" cy="3371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7CD76A-090B-884B-88DD-627E5E5C7399}"/>
              </a:ext>
            </a:extLst>
          </p:cNvPr>
          <p:cNvSpPr/>
          <p:nvPr/>
        </p:nvSpPr>
        <p:spPr>
          <a:xfrm>
            <a:off x="762000" y="3964075"/>
            <a:ext cx="3752321" cy="25129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19F318-4F5E-A84E-86F8-41EE82744599}"/>
              </a:ext>
            </a:extLst>
          </p:cNvPr>
          <p:cNvSpPr/>
          <p:nvPr/>
        </p:nvSpPr>
        <p:spPr>
          <a:xfrm>
            <a:off x="8624253" y="381000"/>
            <a:ext cx="2805748" cy="3371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627037-65D6-B842-8E14-2A75DBAE093F}"/>
              </a:ext>
            </a:extLst>
          </p:cNvPr>
          <p:cNvSpPr/>
          <p:nvPr/>
        </p:nvSpPr>
        <p:spPr>
          <a:xfrm>
            <a:off x="4724401" y="3964075"/>
            <a:ext cx="2194560" cy="25129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42C1D-8BD1-114A-8AA5-6044D27C51FA}"/>
              </a:ext>
            </a:extLst>
          </p:cNvPr>
          <p:cNvSpPr txBox="1"/>
          <p:nvPr/>
        </p:nvSpPr>
        <p:spPr>
          <a:xfrm>
            <a:off x="1071404" y="561877"/>
            <a:ext cx="1713931" cy="55399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n-US" sz="3000" b="1" baseline="30000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$</a:t>
            </a:r>
            <a:r>
              <a:rPr lang="en-US" sz="30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50,000</a:t>
            </a:r>
            <a:endParaRPr lang="en-US" sz="3000" b="1" baseline="30000" dirty="0">
              <a:solidFill>
                <a:schemeClr val="tx2"/>
              </a:solidFill>
              <a:latin typeface="Poppins" pitchFamily="2" charset="77"/>
              <a:ea typeface="League Spartan" charset="0"/>
              <a:cs typeface="Poppins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92C827-0504-9B4D-84B9-95435F8E2FF6}"/>
              </a:ext>
            </a:extLst>
          </p:cNvPr>
          <p:cNvSpPr txBox="1"/>
          <p:nvPr/>
        </p:nvSpPr>
        <p:spPr>
          <a:xfrm>
            <a:off x="1071404" y="1093015"/>
            <a:ext cx="2186940" cy="298223"/>
          </a:xfrm>
          <a:prstGeom prst="rect">
            <a:avLst/>
          </a:prstGeom>
          <a:noFill/>
        </p:spPr>
        <p:txBody>
          <a:bodyPr wrap="square" lIns="45720" rtlCol="0" anchor="t" anchorCtr="0">
            <a:spAutoFit/>
          </a:bodyPr>
          <a:lstStyle/>
          <a:p>
            <a:pPr algn="just">
              <a:lnSpc>
                <a:spcPts val="1750"/>
              </a:lnSpc>
            </a:pPr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Green marketing is a practice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3662B7-D31D-B847-9BEC-A3D498D6EF13}"/>
              </a:ext>
            </a:extLst>
          </p:cNvPr>
          <p:cNvSpPr txBox="1"/>
          <p:nvPr/>
        </p:nvSpPr>
        <p:spPr>
          <a:xfrm>
            <a:off x="1071404" y="1359402"/>
            <a:ext cx="748923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+3.4%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D524E70-781F-7C47-8717-8306B8AED3B9}"/>
              </a:ext>
            </a:extLst>
          </p:cNvPr>
          <p:cNvSpPr/>
          <p:nvPr/>
        </p:nvSpPr>
        <p:spPr>
          <a:xfrm>
            <a:off x="1071404" y="1847684"/>
            <a:ext cx="2186940" cy="42905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CCF1EE-769F-8B45-8D68-D6EA4A7C35F9}"/>
              </a:ext>
            </a:extLst>
          </p:cNvPr>
          <p:cNvSpPr txBox="1"/>
          <p:nvPr/>
        </p:nvSpPr>
        <p:spPr>
          <a:xfrm>
            <a:off x="1465805" y="1916017"/>
            <a:ext cx="1398140" cy="33855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Poppins" pitchFamily="2" charset="77"/>
                <a:ea typeface="Lato Light" panose="020F0502020204030203" pitchFamily="34" charset="0"/>
                <a:cs typeface="Poppins" pitchFamily="2" charset="77"/>
              </a:rPr>
              <a:t>ADD FOUND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096A2F-E899-CE4E-BDE9-B39C77F8AC47}"/>
              </a:ext>
            </a:extLst>
          </p:cNvPr>
          <p:cNvSpPr txBox="1"/>
          <p:nvPr/>
        </p:nvSpPr>
        <p:spPr>
          <a:xfrm>
            <a:off x="1070112" y="2458935"/>
            <a:ext cx="1164421" cy="276999"/>
          </a:xfrm>
          <a:prstGeom prst="rect">
            <a:avLst/>
          </a:prstGeom>
          <a:noFill/>
        </p:spPr>
        <p:txBody>
          <a:bodyPr wrap="none" lIns="45720" rtlCol="0" anchor="t" anchorCtr="0">
            <a:spAutoFit/>
          </a:bodyPr>
          <a:lstStyle/>
          <a:p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Your Text Here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EA78D0B-2A02-3545-BC63-4AD6A7BC3971}"/>
              </a:ext>
            </a:extLst>
          </p:cNvPr>
          <p:cNvSpPr/>
          <p:nvPr/>
        </p:nvSpPr>
        <p:spPr>
          <a:xfrm>
            <a:off x="1070113" y="2749871"/>
            <a:ext cx="1363680" cy="914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46261F6-4AA1-304E-81DF-FADB15FFB969}"/>
              </a:ext>
            </a:extLst>
          </p:cNvPr>
          <p:cNvSpPr/>
          <p:nvPr/>
        </p:nvSpPr>
        <p:spPr>
          <a:xfrm>
            <a:off x="1070113" y="2749871"/>
            <a:ext cx="1086733" cy="914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7B3645-F1B7-6E43-B1ED-746880A53C16}"/>
              </a:ext>
            </a:extLst>
          </p:cNvPr>
          <p:cNvSpPr txBox="1"/>
          <p:nvPr/>
        </p:nvSpPr>
        <p:spPr>
          <a:xfrm>
            <a:off x="1070112" y="3067737"/>
            <a:ext cx="1164421" cy="276999"/>
          </a:xfrm>
          <a:prstGeom prst="rect">
            <a:avLst/>
          </a:prstGeom>
          <a:noFill/>
        </p:spPr>
        <p:txBody>
          <a:bodyPr wrap="none" lIns="45720" rtlCol="0" anchor="t" anchorCtr="0">
            <a:spAutoFit/>
          </a:bodyPr>
          <a:lstStyle/>
          <a:p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Your Text Here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5797173-CC30-204E-82D7-48E0B2411965}"/>
              </a:ext>
            </a:extLst>
          </p:cNvPr>
          <p:cNvSpPr/>
          <p:nvPr/>
        </p:nvSpPr>
        <p:spPr>
          <a:xfrm>
            <a:off x="1070113" y="3358673"/>
            <a:ext cx="1363680" cy="914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FA3D640-D0F1-B341-9AD6-AFE9136C3A12}"/>
              </a:ext>
            </a:extLst>
          </p:cNvPr>
          <p:cNvSpPr/>
          <p:nvPr/>
        </p:nvSpPr>
        <p:spPr>
          <a:xfrm>
            <a:off x="1070113" y="3358673"/>
            <a:ext cx="640080" cy="914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951167-21C7-0847-90D3-4254A4C1FBF0}"/>
              </a:ext>
            </a:extLst>
          </p:cNvPr>
          <p:cNvSpPr txBox="1"/>
          <p:nvPr/>
        </p:nvSpPr>
        <p:spPr>
          <a:xfrm>
            <a:off x="1070112" y="4113818"/>
            <a:ext cx="1866217" cy="33855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Poppins" pitchFamily="2" charset="77"/>
                <a:ea typeface="Lato Light" panose="020F0502020204030203" pitchFamily="34" charset="0"/>
                <a:cs typeface="Poppins" pitchFamily="2" charset="77"/>
              </a:rPr>
              <a:t>YOUR TITLE HERE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FDA7DA-827A-B445-A18F-DEF72A4177B8}"/>
              </a:ext>
            </a:extLst>
          </p:cNvPr>
          <p:cNvSpPr txBox="1"/>
          <p:nvPr/>
        </p:nvSpPr>
        <p:spPr>
          <a:xfrm>
            <a:off x="1070112" y="4837201"/>
            <a:ext cx="1164421" cy="276999"/>
          </a:xfrm>
          <a:prstGeom prst="rect">
            <a:avLst/>
          </a:prstGeom>
          <a:noFill/>
        </p:spPr>
        <p:txBody>
          <a:bodyPr wrap="none" lIns="45720" rtlCol="0" anchor="t" anchorCtr="0">
            <a:spAutoFit/>
          </a:bodyPr>
          <a:lstStyle/>
          <a:p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Your Text Here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AF625E3-1694-1447-A4B4-215247F1C271}"/>
              </a:ext>
            </a:extLst>
          </p:cNvPr>
          <p:cNvGrpSpPr/>
          <p:nvPr/>
        </p:nvGrpSpPr>
        <p:grpSpPr>
          <a:xfrm>
            <a:off x="1070112" y="5128137"/>
            <a:ext cx="3154680" cy="91440"/>
            <a:chOff x="2137050" y="10747369"/>
            <a:chExt cx="2727359" cy="182880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B0889F7A-DBA4-6B47-85A9-A5A9F26B1040}"/>
                </a:ext>
              </a:extLst>
            </p:cNvPr>
            <p:cNvSpPr/>
            <p:nvPr/>
          </p:nvSpPr>
          <p:spPr>
            <a:xfrm>
              <a:off x="2137050" y="10747369"/>
              <a:ext cx="2727359" cy="18288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17BEEB58-10E7-2644-B58F-3AC811A90699}"/>
                </a:ext>
              </a:extLst>
            </p:cNvPr>
            <p:cNvSpPr/>
            <p:nvPr/>
          </p:nvSpPr>
          <p:spPr>
            <a:xfrm>
              <a:off x="2137050" y="10747369"/>
              <a:ext cx="2173466" cy="1828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latin typeface="Lato Light" panose="020F0502020204030203" pitchFamily="34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B71C4AA-68AB-1742-908D-55AA6EB1C14C}"/>
              </a:ext>
            </a:extLst>
          </p:cNvPr>
          <p:cNvSpPr txBox="1"/>
          <p:nvPr/>
        </p:nvSpPr>
        <p:spPr>
          <a:xfrm>
            <a:off x="1070112" y="5691550"/>
            <a:ext cx="1164421" cy="276999"/>
          </a:xfrm>
          <a:prstGeom prst="rect">
            <a:avLst/>
          </a:prstGeom>
          <a:noFill/>
        </p:spPr>
        <p:txBody>
          <a:bodyPr wrap="none" lIns="45720" rtlCol="0" anchor="t" anchorCtr="0">
            <a:spAutoFit/>
          </a:bodyPr>
          <a:lstStyle/>
          <a:p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Your Text Here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56FF3C6-B892-EB42-B9ED-DA6F2DD1197B}"/>
              </a:ext>
            </a:extLst>
          </p:cNvPr>
          <p:cNvGrpSpPr/>
          <p:nvPr/>
        </p:nvGrpSpPr>
        <p:grpSpPr>
          <a:xfrm>
            <a:off x="1070112" y="5982486"/>
            <a:ext cx="3154680" cy="91440"/>
            <a:chOff x="2137050" y="11964972"/>
            <a:chExt cx="2727359" cy="182880"/>
          </a:xfrm>
        </p:grpSpPr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5E027BE6-C3B7-2D42-92B9-F367C2B3AE64}"/>
                </a:ext>
              </a:extLst>
            </p:cNvPr>
            <p:cNvSpPr/>
            <p:nvPr/>
          </p:nvSpPr>
          <p:spPr>
            <a:xfrm>
              <a:off x="2137050" y="11964972"/>
              <a:ext cx="2727359" cy="18288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6DD9C633-ACB2-DC47-A6EC-12D5E4ED671C}"/>
                </a:ext>
              </a:extLst>
            </p:cNvPr>
            <p:cNvSpPr/>
            <p:nvPr/>
          </p:nvSpPr>
          <p:spPr>
            <a:xfrm>
              <a:off x="2137050" y="11964972"/>
              <a:ext cx="1280160" cy="1828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latin typeface="Lato Light" panose="020F0502020204030203" pitchFamily="34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FE5F99C-DE65-7E43-AAF4-81B3BE717053}"/>
              </a:ext>
            </a:extLst>
          </p:cNvPr>
          <p:cNvSpPr txBox="1"/>
          <p:nvPr/>
        </p:nvSpPr>
        <p:spPr>
          <a:xfrm>
            <a:off x="3786531" y="4837201"/>
            <a:ext cx="438262" cy="276999"/>
          </a:xfrm>
          <a:prstGeom prst="rect">
            <a:avLst/>
          </a:prstGeom>
          <a:noFill/>
        </p:spPr>
        <p:txBody>
          <a:bodyPr wrap="none" lIns="45720" rtlCol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74FD93-06AC-5C41-BB0E-E5BA556A5735}"/>
              </a:ext>
            </a:extLst>
          </p:cNvPr>
          <p:cNvSpPr txBox="1"/>
          <p:nvPr/>
        </p:nvSpPr>
        <p:spPr>
          <a:xfrm>
            <a:off x="3786531" y="5691550"/>
            <a:ext cx="438262" cy="276999"/>
          </a:xfrm>
          <a:prstGeom prst="rect">
            <a:avLst/>
          </a:prstGeom>
          <a:noFill/>
        </p:spPr>
        <p:txBody>
          <a:bodyPr wrap="none" lIns="45720" rtlCol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50%</a:t>
            </a:r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E38050DE-B017-A942-BA04-28F4F1C8B40E}"/>
              </a:ext>
            </a:extLst>
          </p:cNvPr>
          <p:cNvGraphicFramePr/>
          <p:nvPr/>
        </p:nvGraphicFramePr>
        <p:xfrm>
          <a:off x="4007915" y="953939"/>
          <a:ext cx="4145486" cy="2612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B8A4FDD-08CE-B94E-AB1F-5389E84F48E5}"/>
              </a:ext>
            </a:extLst>
          </p:cNvPr>
          <p:cNvSpPr txBox="1"/>
          <p:nvPr/>
        </p:nvSpPr>
        <p:spPr>
          <a:xfrm>
            <a:off x="6223490" y="1149930"/>
            <a:ext cx="528853" cy="338554"/>
          </a:xfrm>
          <a:prstGeom prst="rect">
            <a:avLst/>
          </a:prstGeom>
          <a:noFill/>
        </p:spPr>
        <p:txBody>
          <a:bodyPr wrap="square" lIns="45720" rtlCol="0" anchor="t" anchorCtr="0">
            <a:spAutoFit/>
          </a:bodyPr>
          <a:lstStyle/>
          <a:p>
            <a:pPr algn="ctr"/>
            <a:r>
              <a:rPr lang="en-US" sz="800" dirty="0">
                <a:solidFill>
                  <a:schemeClr val="tx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Your Text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2F0DCF-4C5B-B84E-8B01-79A1BA0A25BC}"/>
              </a:ext>
            </a:extLst>
          </p:cNvPr>
          <p:cNvSpPr txBox="1"/>
          <p:nvPr/>
        </p:nvSpPr>
        <p:spPr>
          <a:xfrm>
            <a:off x="7252409" y="521276"/>
            <a:ext cx="779381" cy="33855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r"/>
            <a:r>
              <a:rPr lang="en-US" sz="1600" b="1" dirty="0">
                <a:solidFill>
                  <a:schemeClr val="tx2"/>
                </a:solidFill>
                <a:latin typeface="Poppins" pitchFamily="2" charset="77"/>
                <a:ea typeface="Lato Light" panose="020F0502020204030203" pitchFamily="34" charset="0"/>
                <a:cs typeface="Poppins" pitchFamily="2" charset="77"/>
              </a:rPr>
              <a:t>MORE</a:t>
            </a:r>
          </a:p>
        </p:txBody>
      </p:sp>
      <p:sp>
        <p:nvSpPr>
          <p:cNvPr id="37" name="Triangle 36">
            <a:extLst>
              <a:ext uri="{FF2B5EF4-FFF2-40B4-BE49-F238E27FC236}">
                <a16:creationId xmlns:a16="http://schemas.microsoft.com/office/drawing/2014/main" id="{F3AB1D47-CAE5-0A40-9CEB-DEBBA1371E3B}"/>
              </a:ext>
            </a:extLst>
          </p:cNvPr>
          <p:cNvSpPr/>
          <p:nvPr/>
        </p:nvSpPr>
        <p:spPr>
          <a:xfrm rot="10800000">
            <a:off x="8116329" y="628145"/>
            <a:ext cx="91234" cy="78650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0750BC2F-31B4-4846-9F01-7D6653459180}"/>
              </a:ext>
            </a:extLst>
          </p:cNvPr>
          <p:cNvSpPr/>
          <p:nvPr/>
        </p:nvSpPr>
        <p:spPr>
          <a:xfrm>
            <a:off x="9161528" y="1109265"/>
            <a:ext cx="1727243" cy="1727243"/>
          </a:xfrm>
          <a:prstGeom prst="arc">
            <a:avLst>
              <a:gd name="adj1" fmla="val 16200000"/>
              <a:gd name="adj2" fmla="val 16184652"/>
            </a:avLst>
          </a:prstGeom>
          <a:ln w="889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9467AD5A-E7F0-5943-9A4A-E4A8C9AD8683}"/>
              </a:ext>
            </a:extLst>
          </p:cNvPr>
          <p:cNvSpPr/>
          <p:nvPr/>
        </p:nvSpPr>
        <p:spPr>
          <a:xfrm>
            <a:off x="9161528" y="1109265"/>
            <a:ext cx="1727243" cy="1727243"/>
          </a:xfrm>
          <a:prstGeom prst="arc">
            <a:avLst>
              <a:gd name="adj1" fmla="val 4624005"/>
              <a:gd name="adj2" fmla="val 16187656"/>
            </a:avLst>
          </a:prstGeom>
          <a:ln w="1524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3B1416-98B6-1746-870F-F353FE76230E}"/>
              </a:ext>
            </a:extLst>
          </p:cNvPr>
          <p:cNvSpPr txBox="1"/>
          <p:nvPr/>
        </p:nvSpPr>
        <p:spPr>
          <a:xfrm>
            <a:off x="9510424" y="1494278"/>
            <a:ext cx="1029449" cy="55399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54%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0DE255-677A-3345-823C-FD453B87E326}"/>
              </a:ext>
            </a:extLst>
          </p:cNvPr>
          <p:cNvSpPr txBox="1"/>
          <p:nvPr/>
        </p:nvSpPr>
        <p:spPr>
          <a:xfrm>
            <a:off x="9469564" y="2033101"/>
            <a:ext cx="1111168" cy="400110"/>
          </a:xfrm>
          <a:prstGeom prst="rect">
            <a:avLst/>
          </a:prstGeom>
          <a:noFill/>
        </p:spPr>
        <p:txBody>
          <a:bodyPr wrap="square" lIns="45720" rtlCol="0" anchor="t" anchorCtr="0">
            <a:spAutoFit/>
          </a:bodyPr>
          <a:lstStyle/>
          <a:p>
            <a:pPr algn="ctr"/>
            <a:r>
              <a:rPr lang="en-US" sz="10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Green marketing is a practice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708B5D-2956-AB45-A2ED-BA9F34A693FA}"/>
              </a:ext>
            </a:extLst>
          </p:cNvPr>
          <p:cNvSpPr txBox="1"/>
          <p:nvPr/>
        </p:nvSpPr>
        <p:spPr>
          <a:xfrm>
            <a:off x="8823612" y="3085214"/>
            <a:ext cx="2403072" cy="529056"/>
          </a:xfrm>
          <a:prstGeom prst="rect">
            <a:avLst/>
          </a:prstGeom>
          <a:noFill/>
        </p:spPr>
        <p:txBody>
          <a:bodyPr wrap="square" lIns="45720" rtlCol="0" anchor="t" anchorCtr="0">
            <a:spAutoFit/>
          </a:bodyPr>
          <a:lstStyle/>
          <a:p>
            <a:pPr algn="ctr">
              <a:lnSpc>
                <a:spcPts val="1750"/>
              </a:lnSpc>
            </a:pPr>
            <a:r>
              <a:rPr lang="en-US" sz="12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Green marketing is a practice whereby companies seek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4BDC7C-190E-5344-A314-3CBFEBFFA63E}"/>
              </a:ext>
            </a:extLst>
          </p:cNvPr>
          <p:cNvSpPr txBox="1"/>
          <p:nvPr/>
        </p:nvSpPr>
        <p:spPr>
          <a:xfrm>
            <a:off x="8800471" y="521276"/>
            <a:ext cx="1866217" cy="33855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Poppins" pitchFamily="2" charset="77"/>
                <a:ea typeface="Lato Light" panose="020F0502020204030203" pitchFamily="34" charset="0"/>
                <a:cs typeface="Poppins" pitchFamily="2" charset="77"/>
              </a:rPr>
              <a:t>YOUR TITLE HERE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45DCAA0-E54B-9140-9841-61BD3DE6AE35}"/>
              </a:ext>
            </a:extLst>
          </p:cNvPr>
          <p:cNvSpPr/>
          <p:nvPr/>
        </p:nvSpPr>
        <p:spPr>
          <a:xfrm>
            <a:off x="6918961" y="3964075"/>
            <a:ext cx="2316479" cy="25129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21D20E7-B4BB-F248-B521-8A90E4CA99F0}"/>
              </a:ext>
            </a:extLst>
          </p:cNvPr>
          <p:cNvSpPr/>
          <p:nvPr/>
        </p:nvSpPr>
        <p:spPr>
          <a:xfrm>
            <a:off x="9235440" y="3964075"/>
            <a:ext cx="2194560" cy="25129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CF248E-86B0-4446-AE67-B3FEBEFDAABA}"/>
              </a:ext>
            </a:extLst>
          </p:cNvPr>
          <p:cNvSpPr txBox="1"/>
          <p:nvPr/>
        </p:nvSpPr>
        <p:spPr>
          <a:xfrm>
            <a:off x="10349051" y="4114488"/>
            <a:ext cx="779381" cy="33855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r"/>
            <a:r>
              <a:rPr lang="en-US" sz="1600" b="1" dirty="0">
                <a:solidFill>
                  <a:schemeClr val="tx2"/>
                </a:solidFill>
                <a:latin typeface="Poppins" pitchFamily="2" charset="77"/>
                <a:ea typeface="Lato Light" panose="020F0502020204030203" pitchFamily="34" charset="0"/>
                <a:cs typeface="Poppins" pitchFamily="2" charset="77"/>
              </a:rPr>
              <a:t>MORE</a:t>
            </a:r>
          </a:p>
        </p:txBody>
      </p:sp>
      <p:sp>
        <p:nvSpPr>
          <p:cNvPr id="47" name="Triangle 46">
            <a:extLst>
              <a:ext uri="{FF2B5EF4-FFF2-40B4-BE49-F238E27FC236}">
                <a16:creationId xmlns:a16="http://schemas.microsoft.com/office/drawing/2014/main" id="{67B0A557-A904-E94F-98AF-B290011A3F2D}"/>
              </a:ext>
            </a:extLst>
          </p:cNvPr>
          <p:cNvSpPr/>
          <p:nvPr/>
        </p:nvSpPr>
        <p:spPr>
          <a:xfrm rot="10800000">
            <a:off x="11212971" y="4221356"/>
            <a:ext cx="91234" cy="78650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48" name="Arc 47">
            <a:extLst>
              <a:ext uri="{FF2B5EF4-FFF2-40B4-BE49-F238E27FC236}">
                <a16:creationId xmlns:a16="http://schemas.microsoft.com/office/drawing/2014/main" id="{19533FD1-373E-FB4B-8F6C-B4BD295D5F5C}"/>
              </a:ext>
            </a:extLst>
          </p:cNvPr>
          <p:cNvSpPr/>
          <p:nvPr/>
        </p:nvSpPr>
        <p:spPr>
          <a:xfrm>
            <a:off x="9485728" y="4578316"/>
            <a:ext cx="1727243" cy="1727243"/>
          </a:xfrm>
          <a:prstGeom prst="arc">
            <a:avLst>
              <a:gd name="adj1" fmla="val 16200000"/>
              <a:gd name="adj2" fmla="val 16184652"/>
            </a:avLst>
          </a:prstGeom>
          <a:ln w="889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7B0BBA34-0E3D-9346-BAE5-F19E9C7A7325}"/>
              </a:ext>
            </a:extLst>
          </p:cNvPr>
          <p:cNvSpPr/>
          <p:nvPr/>
        </p:nvSpPr>
        <p:spPr>
          <a:xfrm>
            <a:off x="9485728" y="4578316"/>
            <a:ext cx="1727243" cy="1727243"/>
          </a:xfrm>
          <a:prstGeom prst="arc">
            <a:avLst>
              <a:gd name="adj1" fmla="val 9861365"/>
              <a:gd name="adj2" fmla="val 16187656"/>
            </a:avLst>
          </a:prstGeom>
          <a:ln w="1524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48B199-6E95-5C42-8400-7BC87B620D5F}"/>
              </a:ext>
            </a:extLst>
          </p:cNvPr>
          <p:cNvSpPr txBox="1"/>
          <p:nvPr/>
        </p:nvSpPr>
        <p:spPr>
          <a:xfrm>
            <a:off x="9848250" y="4963329"/>
            <a:ext cx="1002198" cy="55399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30%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6E09E4-0BD8-004A-9E1B-FB9DFE86E525}"/>
              </a:ext>
            </a:extLst>
          </p:cNvPr>
          <p:cNvSpPr txBox="1"/>
          <p:nvPr/>
        </p:nvSpPr>
        <p:spPr>
          <a:xfrm>
            <a:off x="9793764" y="5502152"/>
            <a:ext cx="1111168" cy="400110"/>
          </a:xfrm>
          <a:prstGeom prst="rect">
            <a:avLst/>
          </a:prstGeom>
          <a:noFill/>
        </p:spPr>
        <p:txBody>
          <a:bodyPr wrap="square" lIns="45720" rtlCol="0" anchor="t" anchorCtr="0">
            <a:spAutoFit/>
          </a:bodyPr>
          <a:lstStyle/>
          <a:p>
            <a:pPr algn="ctr"/>
            <a:r>
              <a:rPr lang="en-US" sz="10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Green marketing is a practice</a:t>
            </a:r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A682420D-A09F-5D40-85C6-53937B06AD7A}"/>
              </a:ext>
            </a:extLst>
          </p:cNvPr>
          <p:cNvSpPr/>
          <p:nvPr/>
        </p:nvSpPr>
        <p:spPr>
          <a:xfrm>
            <a:off x="7213579" y="4578316"/>
            <a:ext cx="1727243" cy="1727243"/>
          </a:xfrm>
          <a:prstGeom prst="arc">
            <a:avLst>
              <a:gd name="adj1" fmla="val 16200000"/>
              <a:gd name="adj2" fmla="val 16184652"/>
            </a:avLst>
          </a:prstGeom>
          <a:ln w="889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D7C960D0-835E-8346-9DC8-45F1B1DB2821}"/>
              </a:ext>
            </a:extLst>
          </p:cNvPr>
          <p:cNvSpPr/>
          <p:nvPr/>
        </p:nvSpPr>
        <p:spPr>
          <a:xfrm>
            <a:off x="7213579" y="4578316"/>
            <a:ext cx="1727243" cy="1727243"/>
          </a:xfrm>
          <a:prstGeom prst="arc">
            <a:avLst>
              <a:gd name="adj1" fmla="val 4342732"/>
              <a:gd name="adj2" fmla="val 16187656"/>
            </a:avLst>
          </a:prstGeom>
          <a:ln w="1524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78DCFF0-B39F-F54D-86F8-2381A99CD647}"/>
              </a:ext>
            </a:extLst>
          </p:cNvPr>
          <p:cNvSpPr txBox="1"/>
          <p:nvPr/>
        </p:nvSpPr>
        <p:spPr>
          <a:xfrm>
            <a:off x="7562476" y="4963329"/>
            <a:ext cx="1029449" cy="55399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54%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B32859-DD24-E94E-AEFB-55DCD3C1407E}"/>
              </a:ext>
            </a:extLst>
          </p:cNvPr>
          <p:cNvSpPr txBox="1"/>
          <p:nvPr/>
        </p:nvSpPr>
        <p:spPr>
          <a:xfrm>
            <a:off x="7521616" y="5502152"/>
            <a:ext cx="1111168" cy="400110"/>
          </a:xfrm>
          <a:prstGeom prst="rect">
            <a:avLst/>
          </a:prstGeom>
          <a:noFill/>
        </p:spPr>
        <p:txBody>
          <a:bodyPr wrap="square" lIns="45720" rtlCol="0" anchor="t" anchorCtr="0">
            <a:spAutoFit/>
          </a:bodyPr>
          <a:lstStyle/>
          <a:p>
            <a:pPr algn="ctr"/>
            <a:r>
              <a:rPr lang="en-US" sz="10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Green marketing is a practice</a:t>
            </a: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86815E47-04E2-7C4E-B878-81FCA6212375}"/>
              </a:ext>
            </a:extLst>
          </p:cNvPr>
          <p:cNvSpPr/>
          <p:nvPr/>
        </p:nvSpPr>
        <p:spPr>
          <a:xfrm>
            <a:off x="4960092" y="4578316"/>
            <a:ext cx="1727243" cy="1727243"/>
          </a:xfrm>
          <a:prstGeom prst="arc">
            <a:avLst>
              <a:gd name="adj1" fmla="val 16200000"/>
              <a:gd name="adj2" fmla="val 16184652"/>
            </a:avLst>
          </a:prstGeom>
          <a:ln w="889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126D8504-9490-E34A-8F2C-EC9BE8B6046E}"/>
              </a:ext>
            </a:extLst>
          </p:cNvPr>
          <p:cNvSpPr/>
          <p:nvPr/>
        </p:nvSpPr>
        <p:spPr>
          <a:xfrm>
            <a:off x="4960092" y="4578316"/>
            <a:ext cx="1727243" cy="1727243"/>
          </a:xfrm>
          <a:prstGeom prst="arc">
            <a:avLst>
              <a:gd name="adj1" fmla="val 887286"/>
              <a:gd name="adj2" fmla="val 16187656"/>
            </a:avLst>
          </a:prstGeom>
          <a:ln w="1524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18F132-1668-1D4E-9B51-9C0A306253F3}"/>
              </a:ext>
            </a:extLst>
          </p:cNvPr>
          <p:cNvSpPr txBox="1"/>
          <p:nvPr/>
        </p:nvSpPr>
        <p:spPr>
          <a:xfrm>
            <a:off x="5336240" y="4963329"/>
            <a:ext cx="974947" cy="553998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70%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DFB7BB-494A-9145-8B58-0FB08214C645}"/>
              </a:ext>
            </a:extLst>
          </p:cNvPr>
          <p:cNvSpPr txBox="1"/>
          <p:nvPr/>
        </p:nvSpPr>
        <p:spPr>
          <a:xfrm>
            <a:off x="5268128" y="5502152"/>
            <a:ext cx="1111168" cy="400110"/>
          </a:xfrm>
          <a:prstGeom prst="rect">
            <a:avLst/>
          </a:prstGeom>
          <a:noFill/>
        </p:spPr>
        <p:txBody>
          <a:bodyPr wrap="square" lIns="45720" rtlCol="0" anchor="t" anchorCtr="0">
            <a:spAutoFit/>
          </a:bodyPr>
          <a:lstStyle/>
          <a:p>
            <a:pPr algn="ctr"/>
            <a:r>
              <a:rPr lang="en-US" sz="10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Green marketing is a practice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68C1565-D08A-9449-9555-F9BFB84F4787}"/>
              </a:ext>
            </a:extLst>
          </p:cNvPr>
          <p:cNvSpPr txBox="1"/>
          <p:nvPr/>
        </p:nvSpPr>
        <p:spPr>
          <a:xfrm>
            <a:off x="4960092" y="4114487"/>
            <a:ext cx="1317990" cy="33855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Poppins" pitchFamily="2" charset="77"/>
                <a:ea typeface="Lato Light" panose="020F0502020204030203" pitchFamily="34" charset="0"/>
                <a:cs typeface="Poppins" pitchFamily="2" charset="77"/>
              </a:rPr>
              <a:t>YOUR TITLE</a:t>
            </a:r>
          </a:p>
        </p:txBody>
      </p:sp>
    </p:spTree>
    <p:extLst>
      <p:ext uri="{BB962C8B-B14F-4D97-AF65-F5344CB8AC3E}">
        <p14:creationId xmlns:p14="http://schemas.microsoft.com/office/powerpoint/2010/main" val="1042146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690</Words>
  <Application>Microsoft Office PowerPoint</Application>
  <PresentationFormat>Widescreen</PresentationFormat>
  <Paragraphs>216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Lato Light</vt:lpstr>
      <vt:lpstr>Poppins</vt:lpstr>
      <vt:lpstr>Poppins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 Hesse</cp:lastModifiedBy>
  <cp:revision>6</cp:revision>
  <dcterms:created xsi:type="dcterms:W3CDTF">2013-01-27T09:14:16Z</dcterms:created>
  <dcterms:modified xsi:type="dcterms:W3CDTF">2026-06-02T17:43:27Z</dcterms:modified>
  <cp:category/>
</cp:coreProperties>
</file>