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PROJECT STATUS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786384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ptos"/>
              </a:rPr>
              <a:t>Executive Governance
Reporting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4" y="2963091"/>
            <a:ext cx="710488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475569"/>
                </a:solidFill>
                <a:latin typeface="Aptos"/>
              </a:rPr>
              <a:t>A premium project and </a:t>
            </a:r>
            <a:r>
              <a:rPr sz="1400" b="0" dirty="0" err="1">
                <a:solidFill>
                  <a:srgbClr val="475569"/>
                </a:solidFill>
                <a:latin typeface="Aptos"/>
              </a:rPr>
              <a:t>programme</a:t>
            </a:r>
            <a:r>
              <a:rPr sz="1400" b="0" dirty="0">
                <a:solidFill>
                  <a:srgbClr val="475569"/>
                </a:solidFill>
                <a:latin typeface="Aptos"/>
              </a:rPr>
              <a:t> reporting template for weekly governance updates, sponsor briefings and delivery leadership meetings.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943076"/>
            <a:ext cx="1645920" cy="438912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4071092"/>
            <a:ext cx="1645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891B2"/>
                </a:solidFill>
                <a:latin typeface="Aptos"/>
              </a:rPr>
              <a:t>Weekly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2" y="3943076"/>
            <a:ext cx="1645920" cy="438912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96312" y="4071092"/>
            <a:ext cx="1645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891B2"/>
                </a:solidFill>
                <a:latin typeface="Aptos"/>
              </a:rPr>
              <a:t>RAID 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943076"/>
            <a:ext cx="1645920" cy="438912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0831" y="4071092"/>
            <a:ext cx="1645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891B2"/>
                </a:solidFill>
                <a:latin typeface="Aptos"/>
              </a:rPr>
              <a:t>Plan on a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17320"/>
            <a:ext cx="35204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691640"/>
            <a:ext cx="2560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PROJECT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38528"/>
            <a:ext cx="27432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[Insert project / programme name]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51460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651760"/>
            <a:ext cx="1143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CURRENT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9912" y="2916936"/>
            <a:ext cx="1088136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2962656"/>
            <a:ext cx="10881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251460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2651760"/>
            <a:ext cx="1143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FORECAST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5832" y="2916936"/>
            <a:ext cx="1088136" cy="310896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85832" y="2962656"/>
            <a:ext cx="10881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730752"/>
            <a:ext cx="14173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REPORTING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913632"/>
            <a:ext cx="141732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Aptos"/>
              </a:rPr>
              <a:t>DD/MM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730752"/>
            <a:ext cx="14173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913632"/>
            <a:ext cx="141732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Aptos"/>
              </a:rPr>
              <a:t>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61772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Prepared for sponsor and steering committee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Nina Hesse | Executive PMO Reporting 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36792"/>
            <a:ext cx="11183112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0891B2"/>
                </a:solidFill>
                <a:latin typeface="Aptos"/>
              </a:rP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498079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Project Name – Weekly Status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7863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A single-slide view of delivery health, executive summary, RAG status and required interventions.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2014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286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Sponsor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28600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Aptos"/>
              </a:rPr>
              <a:t>[Name]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554480"/>
            <a:ext cx="19202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737360"/>
            <a:ext cx="19202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Aptos"/>
              </a:rPr>
              <a:t>[Name]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54480"/>
            <a:ext cx="2286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Reporting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37360"/>
            <a:ext cx="228600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Aptos"/>
              </a:rPr>
              <a:t>[DD/MM/YYYY]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554480"/>
            <a:ext cx="21031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End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737360"/>
            <a:ext cx="210312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Aptos"/>
              </a:rPr>
              <a:t>[DD/MM/YYYY]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554480"/>
            <a:ext cx="14630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737360"/>
            <a:ext cx="14630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Aptos"/>
              </a:rPr>
              <a:t>1.0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240280"/>
            <a:ext cx="1463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377440"/>
            <a:ext cx="1188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CURRENT RAG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2642616"/>
            <a:ext cx="1133856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2688336"/>
            <a:ext cx="113385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2240280"/>
            <a:ext cx="1463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6000" y="2377440"/>
            <a:ext cx="1188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PREVIOUS RAG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13432" y="2642616"/>
            <a:ext cx="1133856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13432" y="2688336"/>
            <a:ext cx="113385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Amber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94760" y="2240280"/>
            <a:ext cx="1463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0" y="2377440"/>
            <a:ext cx="1188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FORECAST RAG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59352" y="2642616"/>
            <a:ext cx="1133856" cy="310896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59352" y="2688336"/>
            <a:ext cx="113385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Green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224028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24144" y="2386584"/>
            <a:ext cx="1216151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30" b="1">
                <a:solidFill>
                  <a:srgbClr val="64748B"/>
                </a:solidFill>
                <a:latin typeface="Aptos"/>
              </a:rPr>
              <a:t>GOVERNANCE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24144" y="2624328"/>
            <a:ext cx="1216151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891B2"/>
                </a:solidFill>
                <a:latin typeface="Aptos"/>
              </a:rPr>
              <a:t>68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24144" y="2944368"/>
            <a:ext cx="1216151" cy="2743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269480" y="224028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15783" y="2386584"/>
            <a:ext cx="1216151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30" b="1">
                <a:solidFill>
                  <a:srgbClr val="64748B"/>
                </a:solidFill>
                <a:latin typeface="Aptos"/>
              </a:rPr>
              <a:t>OPEN RAID ITEMS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5783" y="2624328"/>
            <a:ext cx="1216151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15783" y="2944368"/>
            <a:ext cx="1216151" cy="274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961120" y="224028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07424" y="2386584"/>
            <a:ext cx="1216151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30" b="1">
                <a:solidFill>
                  <a:srgbClr val="64748B"/>
                </a:solidFill>
                <a:latin typeface="Aptos"/>
              </a:rPr>
              <a:t>DECISIONS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424" y="2624328"/>
            <a:ext cx="1216151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Aptos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07424" y="2944368"/>
            <a:ext cx="1216151" cy="274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02920" y="3401568"/>
            <a:ext cx="5394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" y="3611880"/>
            <a:ext cx="2286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Executive Summary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3950208"/>
            <a:ext cx="497433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475569"/>
                </a:solidFill>
                <a:latin typeface="Aptos"/>
              </a:rPr>
              <a:t>Summarise</a:t>
            </a:r>
            <a:r>
              <a:rPr sz="1000" b="0" dirty="0">
                <a:solidFill>
                  <a:srgbClr val="475569"/>
                </a:solidFill>
                <a:latin typeface="Aptos"/>
              </a:rPr>
              <a:t> overall project health, key messages for sponsor attention, and material changes since the previous report.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3401568"/>
            <a:ext cx="16276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91072" y="3611880"/>
            <a:ext cx="1097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Scope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3941063"/>
            <a:ext cx="123444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0" b="0" dirty="0">
                <a:solidFill>
                  <a:srgbClr val="475569"/>
                </a:solidFill>
                <a:latin typeface="Aptos"/>
              </a:rPr>
              <a:t>On track / watch / off track
Key scope movement.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73567" y="3401568"/>
            <a:ext cx="16276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19871" y="3611880"/>
            <a:ext cx="1097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Schedule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9870" y="3941063"/>
            <a:ext cx="1298449" cy="3570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0" b="0" dirty="0">
                <a:solidFill>
                  <a:srgbClr val="475569"/>
                </a:solidFill>
                <a:latin typeface="Aptos"/>
              </a:rPr>
              <a:t>Milestone status and forecast slippage.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2367" y="3401568"/>
            <a:ext cx="162763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948672" y="3611880"/>
            <a:ext cx="1097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Budget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8672" y="3941063"/>
            <a:ext cx="1493520" cy="3570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0" b="0" dirty="0">
                <a:solidFill>
                  <a:srgbClr val="475569"/>
                </a:solidFill>
                <a:latin typeface="Aptos"/>
              </a:rPr>
              <a:t>Forecast variance, burn rate and financial exposure.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166360"/>
            <a:ext cx="11201400" cy="86868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8" y="5212080"/>
            <a:ext cx="2743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Aptos"/>
              </a:rPr>
              <a:t>Sponsor Attention Required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" y="5468547"/>
            <a:ext cx="2598788" cy="53091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 dirty="0">
                <a:solidFill>
                  <a:srgbClr val="475569"/>
                </a:solidFill>
                <a:latin typeface="Aptos"/>
              </a:rPr>
              <a:t>1. [Decision / escalation required]   </a:t>
            </a:r>
            <a:endParaRPr lang="en-GB" sz="950" b="0" dirty="0">
              <a:solidFill>
                <a:srgbClr val="475569"/>
              </a:solidFill>
              <a:latin typeface="Aptos"/>
            </a:endParaRPr>
          </a:p>
          <a:p>
            <a:pPr algn="l"/>
            <a:r>
              <a:rPr sz="950" b="0" dirty="0">
                <a:solidFill>
                  <a:srgbClr val="475569"/>
                </a:solidFill>
                <a:latin typeface="Aptos"/>
              </a:rPr>
              <a:t>2. [Dependency requiring support]    </a:t>
            </a:r>
            <a:endParaRPr lang="en-GB" sz="950" b="0" dirty="0">
              <a:solidFill>
                <a:srgbClr val="475569"/>
              </a:solidFill>
              <a:latin typeface="Aptos"/>
            </a:endParaRPr>
          </a:p>
          <a:p>
            <a:pPr algn="l"/>
            <a:r>
              <a:rPr sz="950" b="0" dirty="0">
                <a:solidFill>
                  <a:srgbClr val="475569"/>
                </a:solidFill>
                <a:latin typeface="Aptos"/>
              </a:rPr>
              <a:t>3. [Material risk or issue requiring intervention]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Nina Hesse | Executive PMO Reporting Template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6336792"/>
            <a:ext cx="11183112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0891B2"/>
                </a:solidFill>
                <a:latin typeface="Aptos"/>
              </a:rPr>
              <a:t>WEEKLY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498079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Delivery Progress &amp; Forward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7863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Capture what changed this week, current blockers, and the next actions needed to maintain delivery momentum.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Achievements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12848"/>
            <a:ext cx="68580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Completed [milestone / deliverable]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Progressed [workstream activity]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Secured agreement on [decision]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Improved [metric / delivery signal]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19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Challenges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212848"/>
            <a:ext cx="68580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[Challenge / blocker]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[Dependency / resourcing concern]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[Scope / timeline pressure]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[Decision delay / issue]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19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Next Steps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212848"/>
            <a:ext cx="68580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4688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[Action and owner]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[Upcoming milestone]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[Governance activity]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[Decision or review forum]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46320"/>
            <a:ext cx="1120140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029200"/>
            <a:ext cx="3200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Delivery Focus for Next Reporting Period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394960"/>
            <a:ext cx="347472" cy="34747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468112"/>
            <a:ext cx="34747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367528"/>
            <a:ext cx="1554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Priority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596128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Aptos"/>
              </a:rPr>
              <a:t>Description of the highest priority outcome this week.</a:t>
            </a:r>
          </a:p>
        </p:txBody>
      </p:sp>
      <p:sp>
        <p:nvSpPr>
          <p:cNvPr id="24" name="Oval 23"/>
          <p:cNvSpPr/>
          <p:nvPr/>
        </p:nvSpPr>
        <p:spPr>
          <a:xfrm>
            <a:off x="4434840" y="5394960"/>
            <a:ext cx="347472" cy="34747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4747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367528"/>
            <a:ext cx="1554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Critical Dependency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5596128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Aptos"/>
              </a:rPr>
              <a:t>Dependency or decision needed to protect timeline.</a:t>
            </a:r>
          </a:p>
        </p:txBody>
      </p:sp>
      <p:sp>
        <p:nvSpPr>
          <p:cNvPr id="28" name="Oval 27"/>
          <p:cNvSpPr/>
          <p:nvPr/>
        </p:nvSpPr>
        <p:spPr>
          <a:xfrm>
            <a:off x="8001000" y="5394960"/>
            <a:ext cx="347472" cy="34747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01000" y="5468112"/>
            <a:ext cx="34747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367528"/>
            <a:ext cx="1554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Governance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614416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Aptos"/>
              </a:rPr>
              <a:t>Reporting, control, assurance or stakeholder engagement activity.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Nina Hesse | Executive PMO Reporting 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336792"/>
            <a:ext cx="11183112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0891B2"/>
                </a:solidFill>
                <a:latin typeface="Aptos"/>
              </a:rPr>
              <a:t>RAID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498079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Risks, Issues, Dependencies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7863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Summarise active governance items requiring management attention or escalation.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514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609344"/>
            <a:ext cx="2221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30" b="1">
                <a:solidFill>
                  <a:srgbClr val="64748B"/>
                </a:solidFill>
                <a:latin typeface="Aptos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847088"/>
            <a:ext cx="2221992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Apto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" y="2139696"/>
            <a:ext cx="2221992" cy="274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55848" y="1463040"/>
            <a:ext cx="2514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609344"/>
            <a:ext cx="2221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30" b="1">
                <a:solidFill>
                  <a:srgbClr val="64748B"/>
                </a:solidFill>
                <a:latin typeface="Aptos"/>
              </a:rPr>
              <a:t>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1847088"/>
            <a:ext cx="2221992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ptos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2139696"/>
            <a:ext cx="2221992" cy="274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08776" y="1463040"/>
            <a:ext cx="2514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609344"/>
            <a:ext cx="2221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30" b="1">
                <a:solidFill>
                  <a:srgbClr val="64748B"/>
                </a:solidFill>
                <a:latin typeface="Aptos"/>
              </a:rPr>
              <a:t>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47088"/>
            <a:ext cx="2221992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891B2"/>
                </a:solidFill>
                <a:latin typeface="Aptos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139696"/>
            <a:ext cx="2221992" cy="2743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61704" y="1463040"/>
            <a:ext cx="2514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8" y="1609344"/>
            <a:ext cx="2221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30" b="1">
                <a:solidFill>
                  <a:srgbClr val="64748B"/>
                </a:solidFill>
                <a:latin typeface="Aptos"/>
              </a:rPr>
              <a:t>DEPENDENCIES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1847088"/>
            <a:ext cx="2221992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08008" y="2139696"/>
            <a:ext cx="2221992" cy="274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920" y="2578608"/>
            <a:ext cx="6446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2788920"/>
            <a:ext cx="201168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Top Risks /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154680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154680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3154680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154680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3154680"/>
            <a:ext cx="23774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Description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685031"/>
            <a:ext cx="571500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[Risk]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[RAG]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3456432"/>
            <a:ext cx="22860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[Description]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" y="3977639"/>
            <a:ext cx="571500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[Risk]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87168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[RAG]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3749039"/>
            <a:ext cx="22860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[Description]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270248"/>
            <a:ext cx="571500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[Risk]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[RAG]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4041648"/>
            <a:ext cx="22860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[Description]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8" y="4562856"/>
            <a:ext cx="571500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8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[Risk]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7168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[RAG]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77639" y="4334256"/>
            <a:ext cx="22860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[Description]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2578608"/>
            <a:ext cx="4480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52360" y="2788920"/>
            <a:ext cx="219456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Decisions Required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3154680"/>
            <a:ext cx="777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Decision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3154680"/>
            <a:ext cx="777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Owner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3154680"/>
            <a:ext cx="777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Forum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3154680"/>
            <a:ext cx="777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By When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44200" y="3154680"/>
            <a:ext cx="777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Status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52360" y="3685031"/>
            <a:ext cx="3749039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5236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[Decision]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972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[Forum]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2124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4420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[Status]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52360" y="3977639"/>
            <a:ext cx="3749039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5236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[Decision]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8972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[Forum]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2124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4420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[Status]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52360" y="4270248"/>
            <a:ext cx="3749039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5236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[Decision]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5820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8972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[Forum]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2124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4420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[Status]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52360" y="4562856"/>
            <a:ext cx="3749039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5236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[Decision]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5820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8972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[Forum]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2124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4420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[Status]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2920" y="5074920"/>
            <a:ext cx="11201400" cy="749808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4360" y="5065775"/>
            <a:ext cx="20116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Aptos"/>
              </a:rPr>
              <a:t>Governance Commentary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" y="5358383"/>
            <a:ext cx="84124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19" b="0" dirty="0">
                <a:solidFill>
                  <a:srgbClr val="475569"/>
                </a:solidFill>
                <a:latin typeface="Aptos"/>
              </a:rPr>
              <a:t>Use this space to explain material changes to </a:t>
            </a:r>
            <a:r>
              <a:rPr sz="919" b="0" dirty="0" err="1">
                <a:solidFill>
                  <a:srgbClr val="475569"/>
                </a:solidFill>
                <a:latin typeface="Aptos"/>
              </a:rPr>
              <a:t>programme</a:t>
            </a:r>
            <a:r>
              <a:rPr sz="919" b="0" dirty="0">
                <a:solidFill>
                  <a:srgbClr val="475569"/>
                </a:solidFill>
                <a:latin typeface="Aptos"/>
              </a:rPr>
              <a:t> health, emerging risks, dependency movement, and sponsor interventions required before the next reporting cycle.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Nina Hesse | Executive PMO Reporting Template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2920" y="6336792"/>
            <a:ext cx="11183112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0891B2"/>
                </a:solidFill>
                <a:latin typeface="Aptos"/>
              </a:rPr>
              <a:t>PLAN ON A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498079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Project Name – Delivery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7863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A visual one-page plan showing phases, milestones and governance checkpoints across the reporting 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12014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Jan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5641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Feb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645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9842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Mar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1846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043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Apr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6047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8244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May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248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445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Jun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449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6646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Jul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650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0847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Aug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2851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5048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Sep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052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9249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Oct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1253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3450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Nov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5454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7651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Dec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9655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6414" y="1609344"/>
            <a:ext cx="2743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 dirty="0">
                <a:solidFill>
                  <a:srgbClr val="0F172A"/>
                </a:solidFill>
                <a:latin typeface="Aptos"/>
              </a:rPr>
              <a:t>Governance / </a:t>
            </a:r>
            <a:r>
              <a:rPr sz="900" b="1" dirty="0" err="1">
                <a:solidFill>
                  <a:srgbClr val="0F172A"/>
                </a:solidFill>
                <a:latin typeface="Aptos"/>
              </a:rPr>
              <a:t>Programme</a:t>
            </a:r>
            <a:r>
              <a:rPr sz="900" b="1" dirty="0">
                <a:solidFill>
                  <a:srgbClr val="0F172A"/>
                </a:solidFill>
                <a:latin typeface="Aptos"/>
              </a:rPr>
              <a:t> &amp; Project Management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615184"/>
            <a:ext cx="7955279" cy="4572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60120" y="3063240"/>
            <a:ext cx="1965960" cy="30175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3136392"/>
            <a:ext cx="1965960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71800" y="3493008"/>
            <a:ext cx="2148840" cy="301752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71800" y="3566160"/>
            <a:ext cx="2148840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66360" y="3922776"/>
            <a:ext cx="2331720" cy="30175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66360" y="3995928"/>
            <a:ext cx="2331720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Phase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4352544"/>
            <a:ext cx="2514600" cy="30175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43800" y="4425696"/>
            <a:ext cx="2514600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Phase 4</a:t>
            </a:r>
          </a:p>
        </p:txBody>
      </p:sp>
      <p:sp>
        <p:nvSpPr>
          <p:cNvPr id="41" name="Diamond 40"/>
          <p:cNvSpPr/>
          <p:nvPr/>
        </p:nvSpPr>
        <p:spPr>
          <a:xfrm>
            <a:off x="2834640" y="2816352"/>
            <a:ext cx="292608" cy="292608"/>
          </a:xfrm>
          <a:prstGeom prst="diamond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514600" y="3163824"/>
            <a:ext cx="9144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60" b="0">
                <a:solidFill>
                  <a:srgbClr val="475569"/>
                </a:solidFill>
                <a:latin typeface="Aptos"/>
              </a:rPr>
              <a:t>Gate 1</a:t>
            </a:r>
          </a:p>
        </p:txBody>
      </p:sp>
      <p:sp>
        <p:nvSpPr>
          <p:cNvPr id="43" name="Diamond 42"/>
          <p:cNvSpPr/>
          <p:nvPr/>
        </p:nvSpPr>
        <p:spPr>
          <a:xfrm>
            <a:off x="5074920" y="3236976"/>
            <a:ext cx="292608" cy="292608"/>
          </a:xfrm>
          <a:prstGeom prst="diamond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54880" y="3584448"/>
            <a:ext cx="9144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60" b="0">
                <a:solidFill>
                  <a:srgbClr val="475569"/>
                </a:solidFill>
                <a:latin typeface="Aptos"/>
              </a:rPr>
              <a:t>MVP</a:t>
            </a:r>
          </a:p>
        </p:txBody>
      </p:sp>
      <p:sp>
        <p:nvSpPr>
          <p:cNvPr id="45" name="Diamond 44"/>
          <p:cNvSpPr/>
          <p:nvPr/>
        </p:nvSpPr>
        <p:spPr>
          <a:xfrm>
            <a:off x="7360920" y="3657600"/>
            <a:ext cx="292608" cy="292608"/>
          </a:xfrm>
          <a:prstGeom prst="diamond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40880" y="4005072"/>
            <a:ext cx="9144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60" b="0">
                <a:solidFill>
                  <a:srgbClr val="475569"/>
                </a:solidFill>
                <a:latin typeface="Aptos"/>
              </a:rPr>
              <a:t>Go / No-Go</a:t>
            </a:r>
          </a:p>
        </p:txBody>
      </p:sp>
      <p:sp>
        <p:nvSpPr>
          <p:cNvPr id="47" name="Diamond 46"/>
          <p:cNvSpPr/>
          <p:nvPr/>
        </p:nvSpPr>
        <p:spPr>
          <a:xfrm>
            <a:off x="10012680" y="4087368"/>
            <a:ext cx="292608" cy="292608"/>
          </a:xfrm>
          <a:prstGeom prst="diamond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92640" y="4434840"/>
            <a:ext cx="9144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60" b="0">
                <a:solidFill>
                  <a:srgbClr val="475569"/>
                </a:solidFill>
                <a:latin typeface="Aptos"/>
              </a:rPr>
              <a:t>Release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8" y="5321808"/>
            <a:ext cx="1069848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5404104"/>
            <a:ext cx="102412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Legend: phases = delivery workstreams | diamonds = decision gates / milestones | use colour to indicate ownership, RAG or delivery confidence.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Nina Hesse | Executive PMO Reporting Template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6336792"/>
            <a:ext cx="11183112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0891B2"/>
                </a:solidFill>
                <a:latin typeface="Aptos"/>
              </a:rPr>
              <a:t>REPORTING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498079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How to Use This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7863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A practical guide to keeping reporting consistent, evidence-based and sponsor-ready.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938528"/>
            <a:ext cx="438912" cy="43891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029968"/>
            <a:ext cx="43891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01952"/>
            <a:ext cx="3474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Update RAG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67712"/>
            <a:ext cx="4073434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475569"/>
                </a:solidFill>
                <a:latin typeface="Aptos"/>
              </a:rPr>
              <a:t>Use delivery data, RAID movement and forecast confidence. Avoid subjective RAG status without rationale.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11112" y="1938528"/>
            <a:ext cx="438912" cy="43891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2029968"/>
            <a:ext cx="43891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901952"/>
            <a:ext cx="3474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Summarise for executives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267712"/>
            <a:ext cx="428244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475569"/>
                </a:solidFill>
                <a:latin typeface="Aptos"/>
              </a:rPr>
              <a:t>Lead with material changes, decisions needed and sponsor interventions. Avoid detailed activity logs.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1188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41832" y="3904488"/>
            <a:ext cx="438912" cy="43891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995928"/>
            <a:ext cx="43891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67912"/>
            <a:ext cx="3474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Maintain the RAID snapshot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33672"/>
            <a:ext cx="420624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475569"/>
                </a:solidFill>
                <a:latin typeface="Aptos"/>
              </a:rPr>
              <a:t>Focus on active items, owners and due dates. Close or archive historic items to keep reporting current.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61188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11112" y="3904488"/>
            <a:ext cx="438912" cy="43891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11112" y="3995928"/>
            <a:ext cx="43891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867912"/>
            <a:ext cx="3474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Use the POAP for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233671"/>
            <a:ext cx="420624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475569"/>
                </a:solidFill>
                <a:latin typeface="Aptos"/>
              </a:rPr>
              <a:t>Show high-level phases and decision gates. Keep detail in the project plan, not the executive pack.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Nina Hesse | Executive PMO Reporting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36792"/>
            <a:ext cx="11183112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803</Words>
  <Application>Microsoft Office PowerPoint</Application>
  <PresentationFormat>Widescreen</PresentationFormat>
  <Paragraphs>204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 Hesse</cp:lastModifiedBy>
  <cp:revision>3</cp:revision>
  <dcterms:created xsi:type="dcterms:W3CDTF">2013-01-27T09:14:16Z</dcterms:created>
  <dcterms:modified xsi:type="dcterms:W3CDTF">2026-06-02T14:42:13Z</dcterms:modified>
  <cp:category/>
</cp:coreProperties>
</file>